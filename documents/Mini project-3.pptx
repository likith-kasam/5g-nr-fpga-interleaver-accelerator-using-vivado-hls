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6F45C23-08C1-42A1-9A41-05565058638A}"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E4C5B5-E04A-41CC-89E1-DC24382FDB0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804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45C23-08C1-42A1-9A41-05565058638A}"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1101497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45C23-08C1-42A1-9A41-05565058638A}"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E4C5B5-E04A-41CC-89E1-DC24382FDB0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814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F45C23-08C1-42A1-9A41-05565058638A}"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199597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F45C23-08C1-42A1-9A41-05565058638A}" type="datetimeFigureOut">
              <a:rPr lang="en-IN" smtClean="0"/>
              <a:t>01-05-2026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775293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F45C23-08C1-42A1-9A41-05565058638A}" type="datetimeFigureOut">
              <a:rPr lang="en-IN" smtClean="0"/>
              <a:t>01-05-2026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1459948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F45C23-08C1-42A1-9A41-05565058638A}" type="datetimeFigureOut">
              <a:rPr lang="en-IN" smtClean="0"/>
              <a:t>01-05-2026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1682681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F45C23-08C1-42A1-9A41-05565058638A}"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2207319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F45C23-08C1-42A1-9A41-05565058638A}"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E4C5B5-E04A-41CC-89E1-DC24382FDB0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0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45C23-08C1-42A1-9A41-05565058638A}"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E4C5B5-E04A-41CC-89E1-DC24382FDB03}" type="slidenum">
              <a:rPr lang="en-IN" smtClean="0"/>
              <a:t>‹#›</a:t>
            </a:fld>
            <a:endParaRPr lang="en-IN"/>
          </a:p>
        </p:txBody>
      </p:sp>
    </p:spTree>
    <p:extLst>
      <p:ext uri="{BB962C8B-B14F-4D97-AF65-F5344CB8AC3E}">
        <p14:creationId xmlns:p14="http://schemas.microsoft.com/office/powerpoint/2010/main" val="910817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F45C23-08C1-42A1-9A41-05565058638A}"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E4C5B5-E04A-41CC-89E1-DC24382FDB03}"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0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6F45C23-08C1-42A1-9A41-05565058638A}" type="datetimeFigureOut">
              <a:rPr lang="en-IN" smtClean="0"/>
              <a:t>01-05-2026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BE4C5B5-E04A-41CC-89E1-DC24382FDB03}"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465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31BE7-763E-EA35-794E-9BDF90AE274F}"/>
              </a:ext>
            </a:extLst>
          </p:cNvPr>
          <p:cNvSpPr>
            <a:spLocks noGrp="1"/>
          </p:cNvSpPr>
          <p:nvPr>
            <p:ph type="ctrTitle"/>
          </p:nvPr>
        </p:nvSpPr>
        <p:spPr/>
        <p:txBody>
          <a:bodyPr/>
          <a:lstStyle/>
          <a:p>
            <a:r>
              <a:rPr lang="en-US" dirty="0"/>
              <a:t>Mini project-3</a:t>
            </a:r>
            <a:endParaRPr lang="en-IN" dirty="0"/>
          </a:p>
        </p:txBody>
      </p:sp>
      <p:sp>
        <p:nvSpPr>
          <p:cNvPr id="3" name="Subtitle 2">
            <a:extLst>
              <a:ext uri="{FF2B5EF4-FFF2-40B4-BE49-F238E27FC236}">
                <a16:creationId xmlns:a16="http://schemas.microsoft.com/office/drawing/2014/main" id="{424E9080-30C5-E15D-F84F-54C0277AD628}"/>
              </a:ext>
            </a:extLst>
          </p:cNvPr>
          <p:cNvSpPr>
            <a:spLocks noGrp="1"/>
          </p:cNvSpPr>
          <p:nvPr>
            <p:ph type="subTitle" idx="1"/>
          </p:nvPr>
        </p:nvSpPr>
        <p:spPr>
          <a:xfrm>
            <a:off x="8610600" y="5737859"/>
            <a:ext cx="3200400" cy="685317"/>
          </a:xfrm>
        </p:spPr>
        <p:txBody>
          <a:bodyPr>
            <a:normAutofit fontScale="85000" lnSpcReduction="20000"/>
          </a:bodyPr>
          <a:lstStyle/>
          <a:p>
            <a:r>
              <a:rPr lang="en-US" dirty="0"/>
              <a:t>Group-13:</a:t>
            </a:r>
            <a:br>
              <a:rPr lang="en-US" dirty="0"/>
            </a:br>
            <a:r>
              <a:rPr lang="en-US" dirty="0"/>
              <a:t>Taral Sanka</a:t>
            </a:r>
          </a:p>
          <a:p>
            <a:r>
              <a:rPr lang="en-US" dirty="0"/>
              <a:t>Likith Kasam</a:t>
            </a:r>
            <a:endParaRPr lang="en-IN" dirty="0"/>
          </a:p>
        </p:txBody>
      </p:sp>
      <p:sp>
        <p:nvSpPr>
          <p:cNvPr id="4" name="Title 1">
            <a:extLst>
              <a:ext uri="{FF2B5EF4-FFF2-40B4-BE49-F238E27FC236}">
                <a16:creationId xmlns:a16="http://schemas.microsoft.com/office/drawing/2014/main" id="{6396AE9C-9A7A-7AFD-B998-519035AF5CF4}"/>
              </a:ext>
            </a:extLst>
          </p:cNvPr>
          <p:cNvSpPr txBox="1">
            <a:spLocks/>
          </p:cNvSpPr>
          <p:nvPr/>
        </p:nvSpPr>
        <p:spPr>
          <a:xfrm>
            <a:off x="2331720" y="5840729"/>
            <a:ext cx="5977890" cy="685317"/>
          </a:xfrm>
          <a:prstGeom prst="rect">
            <a:avLst/>
          </a:prstGeom>
        </p:spPr>
        <p:txBody>
          <a:bodyPr vert="horz" lIns="91440" tIns="45720" rIns="91440" bIns="45720" rtlCol="0" anchor="ctr">
            <a:norm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r>
              <a:rPr lang="en-IN" sz="2000" dirty="0"/>
              <a:t>5G-NR Sub-block Interleaver (PDCCH) using Vivado HLS</a:t>
            </a:r>
          </a:p>
        </p:txBody>
      </p:sp>
    </p:spTree>
    <p:extLst>
      <p:ext uri="{BB962C8B-B14F-4D97-AF65-F5344CB8AC3E}">
        <p14:creationId xmlns:p14="http://schemas.microsoft.com/office/powerpoint/2010/main" val="1177592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63B2B3-915D-A9DA-B00A-0721887C45F2}"/>
                  </a:ext>
                </a:extLst>
              </p:cNvPr>
              <p:cNvSpPr>
                <a:spLocks noGrp="1"/>
              </p:cNvSpPr>
              <p:nvPr>
                <p:ph idx="1"/>
              </p:nvPr>
            </p:nvSpPr>
            <p:spPr/>
            <p:txBody>
              <a:bodyPr>
                <a:normAutofit fontScale="92500" lnSpcReduction="10000"/>
              </a:bodyPr>
              <a:lstStyle/>
              <a:p>
                <a:r>
                  <a:rPr lang="en-US" dirty="0"/>
                  <a:t>- Sub-block interleaving is an essential technique used in the 5G-NR PDCCH to improve reliability in wireless communication. It rearranges the input bits so that consecutive errors in the channel are spread across different positions, making them easier to correct using channel coding schemes like Polar codes.</a:t>
                </a:r>
              </a:p>
              <a:p>
                <a:r>
                  <a:rPr lang="en-US" dirty="0"/>
                  <a:t>- </a:t>
                </a:r>
                <a:r>
                  <a:rPr lang="en-IN" dirty="0"/>
                  <a:t>The system takes a binary input sequence </a:t>
                </a:r>
                <a14:m>
                  <m:oMath xmlns:m="http://schemas.openxmlformats.org/officeDocument/2006/math">
                    <m:r>
                      <a:rPr lang="en-IN" i="1">
                        <a:latin typeface="Cambria Math" panose="02040503050406030204" pitchFamily="18" charset="0"/>
                      </a:rPr>
                      <m:t>𝑑</m:t>
                    </m:r>
                    <m:d>
                      <m:dPr>
                        <m:begChr m:val="["/>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𝑁</m:t>
                        </m:r>
                        <m:r>
                          <a:rPr lang="ar-AE">
                            <a:latin typeface="Cambria Math" panose="02040503050406030204" pitchFamily="18" charset="0"/>
                          </a:rPr>
                          <m:t>−</m:t>
                        </m:r>
                        <m:r>
                          <a:rPr lang="ar-AE">
                            <a:latin typeface="Cambria Math" panose="02040503050406030204" pitchFamily="18" charset="0"/>
                          </a:rPr>
                          <m:t>1</m:t>
                        </m:r>
                      </m:e>
                    </m:d>
                  </m:oMath>
                </a14:m>
                <a:r>
                  <a:rPr lang="en-IN" dirty="0"/>
                  <a:t>and produces an interleaved output sequence </a:t>
                </a:r>
                <a14:m>
                  <m:oMath xmlns:m="http://schemas.openxmlformats.org/officeDocument/2006/math">
                    <m:r>
                      <a:rPr lang="en-IN" i="1">
                        <a:latin typeface="Cambria Math" panose="02040503050406030204" pitchFamily="18" charset="0"/>
                      </a:rPr>
                      <m:t>𝑦</m:t>
                    </m:r>
                    <m:d>
                      <m:dPr>
                        <m:begChr m:val="["/>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𝑁</m:t>
                        </m:r>
                        <m:r>
                          <a:rPr lang="ar-AE">
                            <a:latin typeface="Cambria Math" panose="02040503050406030204" pitchFamily="18" charset="0"/>
                          </a:rPr>
                          <m:t>−</m:t>
                        </m:r>
                        <m:r>
                          <a:rPr lang="ar-AE">
                            <a:latin typeface="Cambria Math" panose="02040503050406030204" pitchFamily="18" charset="0"/>
                          </a:rPr>
                          <m:t>1</m:t>
                        </m:r>
                      </m:e>
                    </m:d>
                  </m:oMath>
                </a14:m>
                <a:r>
                  <a:rPr lang="ar-AE" dirty="0"/>
                  <a:t>. </a:t>
                </a:r>
                <a:r>
                  <a:rPr lang="en-IN" dirty="0"/>
                  <a:t>This transformation follows the 3GPP TS 38.212 standard, where the mapping of indices ensures proper redistribution of bits across sub-blocks.</a:t>
                </a:r>
              </a:p>
              <a:p>
                <a:r>
                  <a:rPr lang="en-IN" dirty="0"/>
                  <a:t>- The interleaving process computes an index </a:t>
                </a:r>
                <a14:m>
                  <m:oMath xmlns:m="http://schemas.openxmlformats.org/officeDocument/2006/math">
                    <m:r>
                      <a:rPr lang="en-IN" i="1">
                        <a:latin typeface="Cambria Math" panose="02040503050406030204" pitchFamily="18" charset="0"/>
                      </a:rPr>
                      <m:t>𝑖</m:t>
                    </m:r>
                    <m:r>
                      <a:rPr lang="en-IN">
                        <a:latin typeface="Cambria Math" panose="02040503050406030204" pitchFamily="18" charset="0"/>
                      </a:rPr>
                      <m:t>=</m:t>
                    </m:r>
                    <m:d>
                      <m:dPr>
                        <m:begChr m:val="⌊"/>
                        <m:endChr m:val="⌋"/>
                        <m:ctrlPr>
                          <a:rPr lang="ar-AE" i="1">
                            <a:latin typeface="Cambria Math" panose="02040503050406030204" pitchFamily="18" charset="0"/>
                          </a:rPr>
                        </m:ctrlPr>
                      </m:dPr>
                      <m:e>
                        <m:r>
                          <a:rPr lang="ar-AE">
                            <a:latin typeface="Cambria Math" panose="02040503050406030204" pitchFamily="18" charset="0"/>
                          </a:rPr>
                          <m:t>32</m:t>
                        </m:r>
                        <m:r>
                          <a:rPr lang="ar-AE" i="1">
                            <a:latin typeface="Cambria Math" panose="02040503050406030204" pitchFamily="18" charset="0"/>
                          </a:rPr>
                          <m:t>𝑛</m:t>
                        </m:r>
                        <m:r>
                          <a:rPr lang="ar-AE">
                            <a:latin typeface="Cambria Math" panose="02040503050406030204" pitchFamily="18" charset="0"/>
                          </a:rPr>
                          <m:t>/</m:t>
                        </m:r>
                        <m:r>
                          <a:rPr lang="ar-AE" i="1">
                            <a:latin typeface="Cambria Math" panose="02040503050406030204" pitchFamily="18" charset="0"/>
                          </a:rPr>
                          <m:t>𝑁</m:t>
                        </m:r>
                      </m:e>
                    </m:d>
                  </m:oMath>
                </a14:m>
                <a:r>
                  <a:rPr lang="en-IN" dirty="0"/>
                  <a:t>and uses a permutation function to determine the new position </a:t>
                </a:r>
                <a14:m>
                  <m:oMath xmlns:m="http://schemas.openxmlformats.org/officeDocument/2006/math">
                    <m:r>
                      <a:rPr lang="en-IN" i="1">
                        <a:latin typeface="Cambria Math" panose="02040503050406030204" pitchFamily="18" charset="0"/>
                      </a:rPr>
                      <m:t>𝑗</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t>. </a:t>
                </a:r>
                <a:r>
                  <a:rPr lang="en-IN" dirty="0"/>
                  <a:t>The output is generated using the relation </a:t>
                </a:r>
                <a14:m>
                  <m:oMath xmlns:m="http://schemas.openxmlformats.org/officeDocument/2006/math">
                    <m:r>
                      <a:rPr lang="en-IN" i="1">
                        <a:latin typeface="Cambria Math" panose="02040503050406030204" pitchFamily="18" charset="0"/>
                      </a:rPr>
                      <m:t>𝑦</m:t>
                    </m:r>
                    <m:d>
                      <m:dPr>
                        <m:begChr m:val="["/>
                        <m:endChr m:val="]"/>
                        <m:ctrlPr>
                          <a:rPr lang="ar-AE" i="1">
                            <a:latin typeface="Cambria Math" panose="02040503050406030204" pitchFamily="18" charset="0"/>
                          </a:rPr>
                        </m:ctrlPr>
                      </m:dPr>
                      <m:e>
                        <m:r>
                          <a:rPr lang="ar-AE" i="1">
                            <a:latin typeface="Cambria Math" panose="02040503050406030204" pitchFamily="18" charset="0"/>
                          </a:rPr>
                          <m:t>𝑛</m:t>
                        </m:r>
                      </m:e>
                    </m:d>
                    <m:r>
                      <a:rPr lang="ar-AE">
                        <a:latin typeface="Cambria Math" panose="02040503050406030204" pitchFamily="18" charset="0"/>
                      </a:rPr>
                      <m:t>=</m:t>
                    </m:r>
                    <m:r>
                      <a:rPr lang="ar-AE" i="1">
                        <a:latin typeface="Cambria Math" panose="02040503050406030204" pitchFamily="18" charset="0"/>
                      </a:rPr>
                      <m:t>𝑑</m:t>
                    </m:r>
                    <m:d>
                      <m:dPr>
                        <m:begChr m:val="["/>
                        <m:endChr m:val="]"/>
                        <m:ctrlPr>
                          <a:rPr lang="ar-AE" i="1">
                            <a:latin typeface="Cambria Math" panose="02040503050406030204" pitchFamily="18" charset="0"/>
                          </a:rPr>
                        </m:ctrlPr>
                      </m:dPr>
                      <m:e>
                        <m:r>
                          <a:rPr lang="ar-AE" i="1">
                            <a:latin typeface="Cambria Math" panose="02040503050406030204" pitchFamily="18" charset="0"/>
                          </a:rPr>
                          <m:t>𝑗</m:t>
                        </m:r>
                        <m:d>
                          <m:dPr>
                            <m:ctrlPr>
                              <a:rPr lang="ar-AE" i="1">
                                <a:latin typeface="Cambria Math" panose="02040503050406030204" pitchFamily="18" charset="0"/>
                              </a:rPr>
                            </m:ctrlPr>
                          </m:dPr>
                          <m:e>
                            <m:r>
                              <a:rPr lang="ar-AE" i="1">
                                <a:latin typeface="Cambria Math" panose="02040503050406030204" pitchFamily="18" charset="0"/>
                              </a:rPr>
                              <m:t>𝑛</m:t>
                            </m:r>
                          </m:e>
                        </m:d>
                      </m:e>
                    </m:d>
                  </m:oMath>
                </a14:m>
                <a:r>
                  <a:rPr lang="ar-AE" dirty="0"/>
                  <a:t>, </a:t>
                </a:r>
                <a:r>
                  <a:rPr lang="en-IN" dirty="0"/>
                  <a:t>effectively rearranging the input sequence based on the defined pattern.</a:t>
                </a:r>
              </a:p>
              <a:p>
                <a:r>
                  <a:rPr lang="en-IN" dirty="0"/>
                  <a:t>- </a:t>
                </a:r>
                <a:r>
                  <a:rPr lang="en-US" dirty="0"/>
                  <a:t>The design is implemented as a hardware IP in </a:t>
                </a:r>
                <a:r>
                  <a:rPr lang="en-US" dirty="0" err="1"/>
                  <a:t>Vivado</a:t>
                </a:r>
                <a:r>
                  <a:rPr lang="en-US" dirty="0"/>
                  <a:t> HLS using AXI-Stream interfaces. The input and output ports use 128-bit data width with a ‘last’ signal, while a 64-bit control port (</a:t>
                </a:r>
                <a:r>
                  <a:rPr lang="en-US" dirty="0" err="1"/>
                  <a:t>cnData</a:t>
                </a:r>
                <a:r>
                  <a:rPr lang="en-US" dirty="0"/>
                  <a:t>) provides the configuration parameter </a:t>
                </a:r>
                <a14:m>
                  <m:oMath xmlns:m="http://schemas.openxmlformats.org/officeDocument/2006/math">
                    <m:r>
                      <a:rPr lang="en-US" i="1">
                        <a:latin typeface="Cambria Math" panose="02040503050406030204" pitchFamily="18" charset="0"/>
                      </a:rPr>
                      <m:t>𝑁</m:t>
                    </m:r>
                  </m:oMath>
                </a14:m>
                <a:r>
                  <a:rPr lang="en-US" dirty="0"/>
                  <a:t>, enabling efficient and flexible operation.</a:t>
                </a:r>
                <a:endParaRPr lang="en-IN" dirty="0"/>
              </a:p>
            </p:txBody>
          </p:sp>
        </mc:Choice>
        <mc:Fallback xmlns="">
          <p:sp>
            <p:nvSpPr>
              <p:cNvPr id="3" name="Content Placeholder 2">
                <a:extLst>
                  <a:ext uri="{FF2B5EF4-FFF2-40B4-BE49-F238E27FC236}">
                    <a16:creationId xmlns:a16="http://schemas.microsoft.com/office/drawing/2014/main" id="{CB63B2B3-915D-A9DA-B00A-0721887C45F2}"/>
                  </a:ext>
                </a:extLst>
              </p:cNvPr>
              <p:cNvSpPr>
                <a:spLocks noGrp="1" noRot="1" noChangeAspect="1" noMove="1" noResize="1" noEditPoints="1" noAdjustHandles="1" noChangeArrowheads="1" noChangeShapeType="1" noTextEdit="1"/>
              </p:cNvSpPr>
              <p:nvPr>
                <p:ph idx="1"/>
              </p:nvPr>
            </p:nvSpPr>
            <p:spPr>
              <a:blipFill>
                <a:blip r:embed="rId2"/>
                <a:stretch>
                  <a:fillRect l="-188" t="-2121" r="-627"/>
                </a:stretch>
              </a:blipFill>
            </p:spPr>
            <p:txBody>
              <a:bodyPr/>
              <a:lstStyle/>
              <a:p>
                <a:r>
                  <a:rPr lang="en-IN">
                    <a:noFill/>
                  </a:rPr>
                  <a:t> </a:t>
                </a:r>
              </a:p>
            </p:txBody>
          </p:sp>
        </mc:Fallback>
      </mc:AlternateContent>
      <p:sp>
        <p:nvSpPr>
          <p:cNvPr id="5" name="Title 4">
            <a:extLst>
              <a:ext uri="{FF2B5EF4-FFF2-40B4-BE49-F238E27FC236}">
                <a16:creationId xmlns:a16="http://schemas.microsoft.com/office/drawing/2014/main" id="{3E177B60-1B59-72FE-4C9B-F9CFCFDE1EAF}"/>
              </a:ext>
            </a:extLst>
          </p:cNvPr>
          <p:cNvSpPr>
            <a:spLocks noGrp="1"/>
          </p:cNvSpPr>
          <p:nvPr>
            <p:ph type="title"/>
          </p:nvPr>
        </p:nvSpPr>
        <p:spPr/>
        <p:txBody>
          <a:bodyPr>
            <a:normAutofit/>
          </a:bodyPr>
          <a:lstStyle/>
          <a:p>
            <a:r>
              <a:rPr lang="en-US" sz="4000" dirty="0"/>
              <a:t>5G-NR Sub-block </a:t>
            </a:r>
            <a:r>
              <a:rPr lang="en-US" sz="4000" dirty="0" err="1"/>
              <a:t>Interleaver</a:t>
            </a:r>
            <a:r>
              <a:rPr lang="en-US" sz="4000" dirty="0"/>
              <a:t>: Concept &amp; Design</a:t>
            </a:r>
            <a:endParaRPr lang="en-IN" sz="4000" dirty="0"/>
          </a:p>
        </p:txBody>
      </p:sp>
    </p:spTree>
    <p:extLst>
      <p:ext uri="{BB962C8B-B14F-4D97-AF65-F5344CB8AC3E}">
        <p14:creationId xmlns:p14="http://schemas.microsoft.com/office/powerpoint/2010/main" val="427363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CF498-927E-EF5D-3261-FCC4CEC64A1F}"/>
              </a:ext>
            </a:extLst>
          </p:cNvPr>
          <p:cNvSpPr>
            <a:spLocks noGrp="1"/>
          </p:cNvSpPr>
          <p:nvPr>
            <p:ph type="title"/>
          </p:nvPr>
        </p:nvSpPr>
        <p:spPr>
          <a:xfrm>
            <a:off x="1024128" y="971550"/>
            <a:ext cx="9720072" cy="582930"/>
          </a:xfrm>
        </p:spPr>
        <p:txBody>
          <a:bodyPr>
            <a:normAutofit/>
          </a:bodyPr>
          <a:lstStyle/>
          <a:p>
            <a:r>
              <a:rPr lang="en-US" sz="3600" dirty="0"/>
              <a:t>Design Choices and Implementation Methodology</a:t>
            </a:r>
            <a:endParaRPr lang="en-IN" sz="3600" dirty="0"/>
          </a:p>
        </p:txBody>
      </p:sp>
      <p:sp>
        <p:nvSpPr>
          <p:cNvPr id="3" name="Content Placeholder 2">
            <a:extLst>
              <a:ext uri="{FF2B5EF4-FFF2-40B4-BE49-F238E27FC236}">
                <a16:creationId xmlns:a16="http://schemas.microsoft.com/office/drawing/2014/main" id="{584F1437-E285-9A52-3BB7-964A4C24C99A}"/>
              </a:ext>
            </a:extLst>
          </p:cNvPr>
          <p:cNvSpPr>
            <a:spLocks noGrp="1"/>
          </p:cNvSpPr>
          <p:nvPr>
            <p:ph idx="1"/>
          </p:nvPr>
        </p:nvSpPr>
        <p:spPr>
          <a:xfrm>
            <a:off x="1024128" y="1851660"/>
            <a:ext cx="9720073" cy="5006340"/>
          </a:xfrm>
        </p:spPr>
        <p:txBody>
          <a:bodyPr>
            <a:normAutofit fontScale="92500" lnSpcReduction="10000"/>
          </a:bodyPr>
          <a:lstStyle/>
          <a:p>
            <a:r>
              <a:rPr lang="en-US" dirty="0"/>
              <a:t>- To satisfy the strict latency requirements of 5G systems, a 128-bit data width is used for both input and output interfaces. This allows multiple bits to be processed in parallel within a single clock cycle, significantly reducing the total number of cycles required for computation and improving overall throughput.</a:t>
            </a:r>
          </a:p>
          <a:p>
            <a:r>
              <a:rPr lang="en-US" dirty="0"/>
              <a:t>- The design incorporates several hardware-aware optimizations to ensure efficient FPGA implementation. Loop pipelining with an initiation interval (II) of 1 enables continuous data processing, while loop unrolling allows multiple bits to be handled simultaneously. Additionally, fixed indexing and conditional logic are used to avoid costly operations such as barrel shifting.</a:t>
            </a:r>
          </a:p>
          <a:p>
            <a:r>
              <a:rPr lang="en-US" dirty="0"/>
              <a:t>- The implementation follows a structured three-stage approach. First, input data is received through the AXI-Stream interface and stored in an internal buffer. Next, the sub-block interleaving algorithm is applied, where each bit is reassigned to a new position based on the computed index mapping.</a:t>
            </a:r>
          </a:p>
          <a:p>
            <a:r>
              <a:rPr lang="en-US" dirty="0"/>
              <a:t>- Finally, the reordered data is transmitted through the output AXI-Stream interface while maintaining proper handshake signals. This ensures smooth data flow without stalls, allowing the design to achieve both high performance and compliance with hardware constraints. </a:t>
            </a:r>
            <a:endParaRPr lang="en-IN" dirty="0"/>
          </a:p>
        </p:txBody>
      </p:sp>
    </p:spTree>
    <p:extLst>
      <p:ext uri="{BB962C8B-B14F-4D97-AF65-F5344CB8AC3E}">
        <p14:creationId xmlns:p14="http://schemas.microsoft.com/office/powerpoint/2010/main" val="1053621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0E44-1285-1740-1BC3-7660E3451E57}"/>
              </a:ext>
            </a:extLst>
          </p:cNvPr>
          <p:cNvSpPr>
            <a:spLocks noGrp="1"/>
          </p:cNvSpPr>
          <p:nvPr>
            <p:ph type="title"/>
          </p:nvPr>
        </p:nvSpPr>
        <p:spPr>
          <a:xfrm>
            <a:off x="944118" y="422910"/>
            <a:ext cx="6702552" cy="514350"/>
          </a:xfrm>
        </p:spPr>
        <p:txBody>
          <a:bodyPr>
            <a:normAutofit fontScale="90000"/>
          </a:bodyPr>
          <a:lstStyle/>
          <a:p>
            <a:r>
              <a:rPr lang="en-IN" sz="3600" dirty="0"/>
              <a:t>Simulation, Synthesis and </a:t>
            </a:r>
            <a:r>
              <a:rPr lang="en-US" sz="3600" dirty="0"/>
              <a:t>RTL Cosimulation</a:t>
            </a:r>
            <a:r>
              <a:rPr lang="en-IN" sz="3600" dirty="0"/>
              <a:t> Results</a:t>
            </a:r>
          </a:p>
        </p:txBody>
      </p:sp>
      <p:pic>
        <p:nvPicPr>
          <p:cNvPr id="5" name="Content Placeholder 4">
            <a:extLst>
              <a:ext uri="{FF2B5EF4-FFF2-40B4-BE49-F238E27FC236}">
                <a16:creationId xmlns:a16="http://schemas.microsoft.com/office/drawing/2014/main" id="{42A287F7-36E0-D5A4-B125-196C24D55B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4118" y="1223368"/>
            <a:ext cx="5936742" cy="2605404"/>
          </a:xfrm>
          <a:prstGeom prst="rect">
            <a:avLst/>
          </a:prstGeom>
        </p:spPr>
      </p:pic>
      <p:pic>
        <p:nvPicPr>
          <p:cNvPr id="7" name="Picture 6">
            <a:extLst>
              <a:ext uri="{FF2B5EF4-FFF2-40B4-BE49-F238E27FC236}">
                <a16:creationId xmlns:a16="http://schemas.microsoft.com/office/drawing/2014/main" id="{128B2E8F-59AC-A43B-98C3-11109C5A8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800" y="443453"/>
            <a:ext cx="4167014" cy="5835205"/>
          </a:xfrm>
          <a:prstGeom prst="rect">
            <a:avLst/>
          </a:prstGeom>
        </p:spPr>
      </p:pic>
      <p:pic>
        <p:nvPicPr>
          <p:cNvPr id="8" name="Content Placeholder 6">
            <a:extLst>
              <a:ext uri="{FF2B5EF4-FFF2-40B4-BE49-F238E27FC236}">
                <a16:creationId xmlns:a16="http://schemas.microsoft.com/office/drawing/2014/main" id="{D7AB3765-A25D-EEF4-7720-6C0A135FA0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118" y="3920570"/>
            <a:ext cx="5544324" cy="2838846"/>
          </a:xfrm>
          <a:prstGeom prst="rect">
            <a:avLst/>
          </a:prstGeom>
        </p:spPr>
      </p:pic>
    </p:spTree>
    <p:extLst>
      <p:ext uri="{BB962C8B-B14F-4D97-AF65-F5344CB8AC3E}">
        <p14:creationId xmlns:p14="http://schemas.microsoft.com/office/powerpoint/2010/main" val="1949240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8BC9B-17E4-75F4-A9FC-AB0543F2F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C18EB-AC03-F725-BD22-EA8B773A2C3B}"/>
              </a:ext>
            </a:extLst>
          </p:cNvPr>
          <p:cNvSpPr>
            <a:spLocks noGrp="1"/>
          </p:cNvSpPr>
          <p:nvPr>
            <p:ph type="title"/>
          </p:nvPr>
        </p:nvSpPr>
        <p:spPr>
          <a:xfrm>
            <a:off x="1005840" y="270034"/>
            <a:ext cx="5349240" cy="480060"/>
          </a:xfrm>
        </p:spPr>
        <p:txBody>
          <a:bodyPr>
            <a:normAutofit fontScale="90000"/>
          </a:bodyPr>
          <a:lstStyle/>
          <a:p>
            <a:r>
              <a:rPr lang="en-US" sz="3600" dirty="0"/>
              <a:t>Waveform Analysis</a:t>
            </a:r>
            <a:endParaRPr lang="en-IN" sz="3600" dirty="0"/>
          </a:p>
        </p:txBody>
      </p:sp>
      <p:pic>
        <p:nvPicPr>
          <p:cNvPr id="9" name="Picture 8">
            <a:extLst>
              <a:ext uri="{FF2B5EF4-FFF2-40B4-BE49-F238E27FC236}">
                <a16:creationId xmlns:a16="http://schemas.microsoft.com/office/drawing/2014/main" id="{8039E2C0-4D63-5F16-C8B4-EC920D4F5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 y="871538"/>
            <a:ext cx="10447020" cy="5876448"/>
          </a:xfrm>
          <a:prstGeom prst="rect">
            <a:avLst/>
          </a:prstGeom>
        </p:spPr>
      </p:pic>
    </p:spTree>
    <p:extLst>
      <p:ext uri="{BB962C8B-B14F-4D97-AF65-F5344CB8AC3E}">
        <p14:creationId xmlns:p14="http://schemas.microsoft.com/office/powerpoint/2010/main" val="430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3C3B0-CB84-B4F5-A7CF-D0B496B7033B}"/>
              </a:ext>
            </a:extLst>
          </p:cNvPr>
          <p:cNvSpPr>
            <a:spLocks noGrp="1"/>
          </p:cNvSpPr>
          <p:nvPr>
            <p:ph type="title"/>
          </p:nvPr>
        </p:nvSpPr>
        <p:spPr>
          <a:xfrm>
            <a:off x="932688" y="880110"/>
            <a:ext cx="7354062" cy="758952"/>
          </a:xfrm>
        </p:spPr>
        <p:txBody>
          <a:bodyPr>
            <a:normAutofit fontScale="90000"/>
          </a:bodyPr>
          <a:lstStyle/>
          <a:p>
            <a:r>
              <a:rPr lang="en-IN" sz="4000" dirty="0"/>
              <a:t>HARDWARE IMPLEMENTATION –Block Diagram</a:t>
            </a:r>
          </a:p>
        </p:txBody>
      </p:sp>
      <p:pic>
        <p:nvPicPr>
          <p:cNvPr id="5" name="Picture 4">
            <a:extLst>
              <a:ext uri="{FF2B5EF4-FFF2-40B4-BE49-F238E27FC236}">
                <a16:creationId xmlns:a16="http://schemas.microsoft.com/office/drawing/2014/main" id="{335DD923-10D4-F7EC-14A0-CF3959E7F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688" y="1639062"/>
            <a:ext cx="8622792" cy="4901190"/>
          </a:xfrm>
          <a:prstGeom prst="rect">
            <a:avLst/>
          </a:prstGeom>
        </p:spPr>
      </p:pic>
    </p:spTree>
    <p:extLst>
      <p:ext uri="{BB962C8B-B14F-4D97-AF65-F5344CB8AC3E}">
        <p14:creationId xmlns:p14="http://schemas.microsoft.com/office/powerpoint/2010/main" val="405213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6838-63A1-66C8-C67E-96AA839DFBD1}"/>
              </a:ext>
            </a:extLst>
          </p:cNvPr>
          <p:cNvSpPr>
            <a:spLocks noGrp="1"/>
          </p:cNvSpPr>
          <p:nvPr>
            <p:ph type="title"/>
          </p:nvPr>
        </p:nvSpPr>
        <p:spPr>
          <a:xfrm>
            <a:off x="1024128" y="685800"/>
            <a:ext cx="7411212" cy="1399032"/>
          </a:xfrm>
        </p:spPr>
        <p:txBody>
          <a:bodyPr>
            <a:normAutofit/>
          </a:bodyPr>
          <a:lstStyle/>
          <a:p>
            <a:r>
              <a:rPr lang="en-US" sz="3600" dirty="0"/>
              <a:t>Synthesis report in design suite</a:t>
            </a:r>
            <a:endParaRPr lang="en-IN" sz="3600" dirty="0"/>
          </a:p>
        </p:txBody>
      </p:sp>
      <p:pic>
        <p:nvPicPr>
          <p:cNvPr id="5" name="Picture 4">
            <a:extLst>
              <a:ext uri="{FF2B5EF4-FFF2-40B4-BE49-F238E27FC236}">
                <a16:creationId xmlns:a16="http://schemas.microsoft.com/office/drawing/2014/main" id="{ACE7EDB2-9C98-6FE9-DD8A-F284AFA42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084832"/>
            <a:ext cx="5938616" cy="1680210"/>
          </a:xfrm>
          <a:prstGeom prst="rect">
            <a:avLst/>
          </a:prstGeom>
        </p:spPr>
      </p:pic>
      <p:pic>
        <p:nvPicPr>
          <p:cNvPr id="7" name="Picture 6">
            <a:extLst>
              <a:ext uri="{FF2B5EF4-FFF2-40B4-BE49-F238E27FC236}">
                <a16:creationId xmlns:a16="http://schemas.microsoft.com/office/drawing/2014/main" id="{C145575F-0CA2-50F4-45E3-E1C9E81DB8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375404"/>
            <a:ext cx="11439806" cy="2146554"/>
          </a:xfrm>
          <a:prstGeom prst="rect">
            <a:avLst/>
          </a:prstGeom>
        </p:spPr>
      </p:pic>
      <p:pic>
        <p:nvPicPr>
          <p:cNvPr id="9" name="Picture 8">
            <a:extLst>
              <a:ext uri="{FF2B5EF4-FFF2-40B4-BE49-F238E27FC236}">
                <a16:creationId xmlns:a16="http://schemas.microsoft.com/office/drawing/2014/main" id="{6B60EC51-BB8F-0780-51CD-06DE4EAA6B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8794" y="310896"/>
            <a:ext cx="5268212" cy="4064508"/>
          </a:xfrm>
          <a:prstGeom prst="rect">
            <a:avLst/>
          </a:prstGeom>
        </p:spPr>
      </p:pic>
    </p:spTree>
    <p:extLst>
      <p:ext uri="{BB962C8B-B14F-4D97-AF65-F5344CB8AC3E}">
        <p14:creationId xmlns:p14="http://schemas.microsoft.com/office/powerpoint/2010/main" val="2124528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615E-9162-BCB5-FB18-B4CEAF53116C}"/>
              </a:ext>
            </a:extLst>
          </p:cNvPr>
          <p:cNvSpPr>
            <a:spLocks noGrp="1"/>
          </p:cNvSpPr>
          <p:nvPr>
            <p:ph type="title"/>
          </p:nvPr>
        </p:nvSpPr>
        <p:spPr>
          <a:xfrm>
            <a:off x="1012698" y="308610"/>
            <a:ext cx="3650742" cy="800100"/>
          </a:xfrm>
        </p:spPr>
        <p:txBody>
          <a:bodyPr>
            <a:normAutofit/>
          </a:bodyPr>
          <a:lstStyle/>
          <a:p>
            <a:r>
              <a:rPr lang="en-US" sz="3600" dirty="0"/>
              <a:t>Hardware waveform</a:t>
            </a:r>
            <a:endParaRPr lang="en-IN" sz="3600" dirty="0"/>
          </a:p>
        </p:txBody>
      </p:sp>
      <p:pic>
        <p:nvPicPr>
          <p:cNvPr id="5" name="Picture 4">
            <a:extLst>
              <a:ext uri="{FF2B5EF4-FFF2-40B4-BE49-F238E27FC236}">
                <a16:creationId xmlns:a16="http://schemas.microsoft.com/office/drawing/2014/main" id="{58408BBA-5BA9-4B56-1360-E7D758FE6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698" y="1108710"/>
            <a:ext cx="9944100" cy="5593556"/>
          </a:xfrm>
          <a:prstGeom prst="rect">
            <a:avLst/>
          </a:prstGeom>
        </p:spPr>
      </p:pic>
    </p:spTree>
    <p:extLst>
      <p:ext uri="{BB962C8B-B14F-4D97-AF65-F5344CB8AC3E}">
        <p14:creationId xmlns:p14="http://schemas.microsoft.com/office/powerpoint/2010/main" val="12734814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470</TotalTime>
  <Words>445</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Cambria Math</vt:lpstr>
      <vt:lpstr>Tw Cen MT</vt:lpstr>
      <vt:lpstr>Tw Cen MT Condensed</vt:lpstr>
      <vt:lpstr>Wingdings 3</vt:lpstr>
      <vt:lpstr>Integral</vt:lpstr>
      <vt:lpstr>Mini project-3</vt:lpstr>
      <vt:lpstr>5G-NR Sub-block Interleaver: Concept &amp; Design</vt:lpstr>
      <vt:lpstr>Design Choices and Implementation Methodology</vt:lpstr>
      <vt:lpstr>Simulation, Synthesis and RTL Cosimulation Results</vt:lpstr>
      <vt:lpstr>Waveform Analysis</vt:lpstr>
      <vt:lpstr>HARDWARE IMPLEMENTATION –Block Diagram</vt:lpstr>
      <vt:lpstr>Synthesis report in design suite</vt:lpstr>
      <vt:lpstr>Hardware waveform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Likith Kasam</dc:creator>
  <cp:lastModifiedBy>Likith Kasam</cp:lastModifiedBy>
  <cp:revision>2</cp:revision>
  <dcterms:created xsi:type="dcterms:W3CDTF">2026-04-26T13:14:54Z</dcterms:created>
  <dcterms:modified xsi:type="dcterms:W3CDTF">2026-05-01T16:53:21Z</dcterms:modified>
</cp:coreProperties>
</file>