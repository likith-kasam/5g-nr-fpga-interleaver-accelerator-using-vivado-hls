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85" autoAdjust="0"/>
    <p:restoredTop sz="94610"/>
  </p:normalViewPr>
  <p:slideViewPr>
    <p:cSldViewPr snapToGrid="0" snapToObjects="1">
      <p:cViewPr>
        <p:scale>
          <a:sx n="118" d="100"/>
          <a:sy n="118" d="100"/>
        </p:scale>
        <p:origin x="51" y="1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201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8E0"/>
          </a:solidFill>
          <a:ln w="12700">
            <a:solidFill>
              <a:srgbClr val="00C8E0"/>
            </a:solidFill>
            <a:prstDash val="solid"/>
          </a:ln>
        </p:spPr>
      </p:sp>
      <p:sp>
        <p:nvSpPr>
          <p:cNvPr id="3" name="Shape 1"/>
          <p:cNvSpPr/>
          <p:nvPr/>
        </p:nvSpPr>
        <p:spPr>
          <a:xfrm>
            <a:off x="7132320" y="0"/>
            <a:ext cx="2011680" cy="5143500"/>
          </a:xfrm>
          <a:prstGeom prst="rect">
            <a:avLst/>
          </a:prstGeom>
          <a:solidFill>
            <a:srgbClr val="0D2240"/>
          </a:solidFill>
          <a:ln w="12700">
            <a:solidFill>
              <a:srgbClr val="0D2240"/>
            </a:solidFill>
            <a:prstDash val="solid"/>
          </a:ln>
        </p:spPr>
      </p:sp>
      <p:sp>
        <p:nvSpPr>
          <p:cNvPr id="4" name="Shape 2"/>
          <p:cNvSpPr/>
          <p:nvPr/>
        </p:nvSpPr>
        <p:spPr>
          <a:xfrm>
            <a:off x="7406640" y="365760"/>
            <a:ext cx="1371600" cy="73152"/>
          </a:xfrm>
          <a:prstGeom prst="rect">
            <a:avLst/>
          </a:prstGeom>
          <a:solidFill>
            <a:srgbClr val="00C8E0"/>
          </a:solidFill>
          <a:ln w="12700">
            <a:solidFill>
              <a:srgbClr val="00C8E0"/>
            </a:solidFill>
            <a:prstDash val="solid"/>
          </a:ln>
        </p:spPr>
      </p:sp>
      <p:sp>
        <p:nvSpPr>
          <p:cNvPr id="5" name="Shape 3"/>
          <p:cNvSpPr/>
          <p:nvPr/>
        </p:nvSpPr>
        <p:spPr>
          <a:xfrm>
            <a:off x="7406640" y="640080"/>
            <a:ext cx="914400" cy="73152"/>
          </a:xfrm>
          <a:prstGeom prst="rect">
            <a:avLst/>
          </a:prstGeom>
          <a:solidFill>
            <a:srgbClr val="1A73E8"/>
          </a:solidFill>
          <a:ln w="12700">
            <a:solidFill>
              <a:srgbClr val="1A73E8"/>
            </a:solidFill>
            <a:prstDash val="solid"/>
          </a:ln>
        </p:spPr>
      </p:sp>
      <p:sp>
        <p:nvSpPr>
          <p:cNvPr id="6" name="Shape 4"/>
          <p:cNvSpPr/>
          <p:nvPr/>
        </p:nvSpPr>
        <p:spPr>
          <a:xfrm>
            <a:off x="7406640" y="914400"/>
            <a:ext cx="548640" cy="73152"/>
          </a:xfrm>
          <a:prstGeom prst="rect">
            <a:avLst/>
          </a:prstGeom>
          <a:solidFill>
            <a:srgbClr val="B0C4D8"/>
          </a:solidFill>
          <a:ln w="12700">
            <a:solidFill>
              <a:srgbClr val="B0C4D8"/>
            </a:solidFill>
            <a:prstDash val="solid"/>
          </a:ln>
        </p:spPr>
      </p:sp>
      <p:sp>
        <p:nvSpPr>
          <p:cNvPr id="7" name="Shape 5"/>
          <p:cNvSpPr/>
          <p:nvPr/>
        </p:nvSpPr>
        <p:spPr>
          <a:xfrm>
            <a:off x="502920" y="594360"/>
            <a:ext cx="2286000" cy="347472"/>
          </a:xfrm>
          <a:prstGeom prst="rect">
            <a:avLst/>
          </a:prstGeom>
          <a:solidFill>
            <a:srgbClr val="122B52"/>
          </a:solidFill>
          <a:ln w="12700">
            <a:solidFill>
              <a:srgbClr val="1A73E8"/>
            </a:solidFill>
            <a:prstDash val="solid"/>
          </a:ln>
        </p:spPr>
      </p:sp>
      <p:sp>
        <p:nvSpPr>
          <p:cNvPr id="8" name="Text 6"/>
          <p:cNvSpPr/>
          <p:nvPr/>
        </p:nvSpPr>
        <p:spPr>
          <a:xfrm>
            <a:off x="502920" y="594360"/>
            <a:ext cx="2286000" cy="347472"/>
          </a:xfrm>
          <a:prstGeom prst="rect">
            <a:avLst/>
          </a:prstGeom>
          <a:noFill/>
          <a:ln/>
        </p:spPr>
        <p:txBody>
          <a:bodyPr wrap="square" lIns="0" tIns="0" rIns="0" bIns="0" rtlCol="0" anchor="ctr"/>
          <a:lstStyle/>
          <a:p>
            <a:pPr marL="0" indent="0" algn="ctr">
              <a:buNone/>
            </a:pPr>
            <a:r>
              <a:rPr lang="en-US" sz="1100" dirty="0">
                <a:solidFill>
                  <a:srgbClr val="00C8E0"/>
                </a:solidFill>
                <a:latin typeface="Calibri" pitchFamily="34" charset="0"/>
                <a:ea typeface="Calibri" pitchFamily="34" charset="-122"/>
                <a:cs typeface="Calibri" pitchFamily="34" charset="-120"/>
              </a:rPr>
              <a:t>TS 38.212 § 5.4.1.3</a:t>
            </a:r>
            <a:endParaRPr lang="en-US" sz="1100" dirty="0"/>
          </a:p>
        </p:txBody>
      </p:sp>
      <p:sp>
        <p:nvSpPr>
          <p:cNvPr id="9" name="Text 7"/>
          <p:cNvSpPr/>
          <p:nvPr/>
        </p:nvSpPr>
        <p:spPr>
          <a:xfrm>
            <a:off x="502920" y="1143000"/>
            <a:ext cx="6400800" cy="914400"/>
          </a:xfrm>
          <a:prstGeom prst="rect">
            <a:avLst/>
          </a:prstGeom>
          <a:noFill/>
          <a:ln/>
        </p:spPr>
        <p:txBody>
          <a:bodyPr wrap="square"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5G-NR Channel Interleaver</a:t>
            </a:r>
            <a:endParaRPr lang="en-US" sz="4000" dirty="0"/>
          </a:p>
        </p:txBody>
      </p:sp>
      <p:sp>
        <p:nvSpPr>
          <p:cNvPr id="10" name="Text 8"/>
          <p:cNvSpPr/>
          <p:nvPr/>
        </p:nvSpPr>
        <p:spPr>
          <a:xfrm>
            <a:off x="502920" y="2057400"/>
            <a:ext cx="6400800" cy="457200"/>
          </a:xfrm>
          <a:prstGeom prst="rect">
            <a:avLst/>
          </a:prstGeom>
          <a:noFill/>
          <a:ln/>
        </p:spPr>
        <p:txBody>
          <a:bodyPr wrap="square" rtlCol="0" anchor="ctr"/>
          <a:lstStyle/>
          <a:p>
            <a:pPr marL="0" indent="0" algn="l">
              <a:buNone/>
            </a:pPr>
            <a:r>
              <a:rPr lang="en-US" sz="1800" dirty="0">
                <a:solidFill>
                  <a:srgbClr val="B0C4D8"/>
                </a:solidFill>
                <a:latin typeface="Calibri" pitchFamily="34" charset="0"/>
                <a:ea typeface="Calibri" pitchFamily="34" charset="-122"/>
                <a:cs typeface="Calibri" pitchFamily="34" charset="-120"/>
              </a:rPr>
              <a:t>PUCCH Coded Bit Interleaving — Mini Project 2</a:t>
            </a:r>
            <a:endParaRPr lang="en-US" sz="1800" dirty="0"/>
          </a:p>
        </p:txBody>
      </p:sp>
      <p:sp>
        <p:nvSpPr>
          <p:cNvPr id="11" name="Shape 9"/>
          <p:cNvSpPr/>
          <p:nvPr/>
        </p:nvSpPr>
        <p:spPr>
          <a:xfrm>
            <a:off x="502920" y="2606040"/>
            <a:ext cx="4114800" cy="45720"/>
          </a:xfrm>
          <a:prstGeom prst="rect">
            <a:avLst/>
          </a:prstGeom>
          <a:solidFill>
            <a:srgbClr val="00C8E0"/>
          </a:solidFill>
          <a:ln w="12700">
            <a:solidFill>
              <a:srgbClr val="00C8E0"/>
            </a:solidFill>
            <a:prstDash val="solid"/>
          </a:ln>
        </p:spPr>
      </p:sp>
      <p:sp>
        <p:nvSpPr>
          <p:cNvPr id="21" name="Shape 19"/>
          <p:cNvSpPr/>
          <p:nvPr/>
        </p:nvSpPr>
        <p:spPr>
          <a:xfrm>
            <a:off x="0" y="5097780"/>
            <a:ext cx="9144000" cy="45720"/>
          </a:xfrm>
          <a:prstGeom prst="rect">
            <a:avLst/>
          </a:prstGeom>
          <a:solidFill>
            <a:srgbClr val="1A73E8"/>
          </a:solidFill>
          <a:ln w="12700">
            <a:solidFill>
              <a:srgbClr val="1A73E8"/>
            </a:solidFill>
            <a:prstDash val="solid"/>
          </a:ln>
        </p:spPr>
      </p:sp>
      <p:sp>
        <p:nvSpPr>
          <p:cNvPr id="22" name="Text 8">
            <a:extLst>
              <a:ext uri="{FF2B5EF4-FFF2-40B4-BE49-F238E27FC236}">
                <a16:creationId xmlns:a16="http://schemas.microsoft.com/office/drawing/2014/main" id="{5D4D573F-E308-FF1B-0C95-A1B1A252F3EE}"/>
              </a:ext>
            </a:extLst>
          </p:cNvPr>
          <p:cNvSpPr/>
          <p:nvPr/>
        </p:nvSpPr>
        <p:spPr>
          <a:xfrm>
            <a:off x="502920" y="2857500"/>
            <a:ext cx="6400800" cy="667511"/>
          </a:xfrm>
          <a:prstGeom prst="rect">
            <a:avLst/>
          </a:prstGeom>
          <a:noFill/>
          <a:ln/>
        </p:spPr>
        <p:txBody>
          <a:bodyPr wrap="square" rtlCol="0" anchor="ctr"/>
          <a:lstStyle/>
          <a:p>
            <a:pPr marL="0" indent="0" algn="l">
              <a:buNone/>
            </a:pPr>
            <a:r>
              <a:rPr lang="en-US" dirty="0">
                <a:solidFill>
                  <a:srgbClr val="B0C4D8"/>
                </a:solidFill>
                <a:latin typeface="Calibri" pitchFamily="34" charset="0"/>
                <a:ea typeface="Calibri" pitchFamily="34" charset="-122"/>
                <a:cs typeface="Calibri" pitchFamily="34" charset="-120"/>
              </a:rPr>
              <a:t>Taral Sanka IMT2023588</a:t>
            </a:r>
          </a:p>
          <a:p>
            <a:pPr marL="0" indent="0" algn="l">
              <a:buNone/>
            </a:pPr>
            <a:r>
              <a:rPr lang="en-US" sz="1800" dirty="0" err="1">
                <a:solidFill>
                  <a:srgbClr val="B0C4D8"/>
                </a:solidFill>
                <a:latin typeface="Calibri" pitchFamily="34" charset="0"/>
                <a:ea typeface="Calibri" pitchFamily="34" charset="-122"/>
                <a:cs typeface="Calibri" pitchFamily="34" charset="-120"/>
              </a:rPr>
              <a:t>Likith</a:t>
            </a:r>
            <a:r>
              <a:rPr lang="en-US" sz="1800" dirty="0">
                <a:solidFill>
                  <a:srgbClr val="B0C4D8"/>
                </a:solidFill>
                <a:latin typeface="Calibri" pitchFamily="34" charset="0"/>
                <a:ea typeface="Calibri" pitchFamily="34" charset="-122"/>
                <a:cs typeface="Calibri" pitchFamily="34" charset="-120"/>
              </a:rPr>
              <a:t> </a:t>
            </a:r>
            <a:r>
              <a:rPr lang="en-US" sz="1800" dirty="0" err="1">
                <a:solidFill>
                  <a:srgbClr val="B0C4D8"/>
                </a:solidFill>
                <a:latin typeface="Calibri" pitchFamily="34" charset="0"/>
                <a:ea typeface="Calibri" pitchFamily="34" charset="-122"/>
                <a:cs typeface="Calibri" pitchFamily="34" charset="-120"/>
              </a:rPr>
              <a:t>Kasam</a:t>
            </a:r>
            <a:r>
              <a:rPr lang="en-US" sz="1800" dirty="0">
                <a:solidFill>
                  <a:srgbClr val="B0C4D8"/>
                </a:solidFill>
                <a:latin typeface="Calibri" pitchFamily="34" charset="0"/>
                <a:ea typeface="Calibri" pitchFamily="34" charset="-122"/>
                <a:cs typeface="Calibri" pitchFamily="34" charset="-120"/>
              </a:rPr>
              <a:t> IMT2023573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A1628"/>
          </a:solidFill>
          <a:ln w="12700">
            <a:solidFill>
              <a:srgbClr val="0A1628"/>
            </a:solidFill>
            <a:prstDash val="solid"/>
          </a:ln>
        </p:spPr>
      </p:sp>
      <p:sp>
        <p:nvSpPr>
          <p:cNvPr id="3" name="Shape 1"/>
          <p:cNvSpPr/>
          <p:nvPr/>
        </p:nvSpPr>
        <p:spPr>
          <a:xfrm>
            <a:off x="0" y="0"/>
            <a:ext cx="3108960" cy="64008"/>
          </a:xfrm>
          <a:prstGeom prst="rect">
            <a:avLst/>
          </a:prstGeom>
          <a:solidFill>
            <a:srgbClr val="00C8E0"/>
          </a:solidFill>
          <a:ln w="12700">
            <a:solidFill>
              <a:srgbClr val="00C8E0"/>
            </a:solidFill>
            <a:prstDash val="solid"/>
          </a:ln>
        </p:spPr>
      </p:sp>
      <p:sp>
        <p:nvSpPr>
          <p:cNvPr id="4" name="Text 2"/>
          <p:cNvSpPr/>
          <p:nvPr/>
        </p:nvSpPr>
        <p:spPr>
          <a:xfrm>
            <a:off x="182880" y="822960"/>
            <a:ext cx="2743200" cy="146304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Why Channel</a:t>
            </a:r>
            <a:endParaRPr lang="en-US" sz="2600" dirty="0"/>
          </a:p>
          <a:p>
            <a:pPr marL="0" indent="0" algn="l">
              <a:buNone/>
            </a:pPr>
            <a:r>
              <a:rPr lang="en-US" sz="2600" b="1" dirty="0">
                <a:solidFill>
                  <a:srgbClr val="FFFFFF"/>
                </a:solidFill>
                <a:latin typeface="Calibri" pitchFamily="34" charset="0"/>
                <a:ea typeface="Calibri" pitchFamily="34" charset="-122"/>
                <a:cs typeface="Calibri" pitchFamily="34" charset="-120"/>
              </a:rPr>
              <a:t>Interleaving?</a:t>
            </a:r>
            <a:endParaRPr lang="en-US" sz="2600" dirty="0"/>
          </a:p>
        </p:txBody>
      </p:sp>
      <p:sp>
        <p:nvSpPr>
          <p:cNvPr id="5" name="Text 3"/>
          <p:cNvSpPr/>
          <p:nvPr/>
        </p:nvSpPr>
        <p:spPr>
          <a:xfrm>
            <a:off x="182880" y="2331720"/>
            <a:ext cx="2743200" cy="411480"/>
          </a:xfrm>
          <a:prstGeom prst="rect">
            <a:avLst/>
          </a:prstGeom>
          <a:noFill/>
          <a:ln/>
        </p:spPr>
        <p:txBody>
          <a:bodyPr wrap="square" rtlCol="0" anchor="ctr"/>
          <a:lstStyle/>
          <a:p>
            <a:pPr marL="0" indent="0" algn="l">
              <a:buNone/>
            </a:pPr>
            <a:r>
              <a:rPr lang="en-US" sz="1400" dirty="0">
                <a:solidFill>
                  <a:srgbClr val="00C8E0"/>
                </a:solidFill>
                <a:latin typeface="Calibri" pitchFamily="34" charset="0"/>
                <a:ea typeface="Calibri" pitchFamily="34" charset="-122"/>
                <a:cs typeface="Calibri" pitchFamily="34" charset="-120"/>
              </a:rPr>
              <a:t>PUCCH in 5G-NR</a:t>
            </a:r>
            <a:endParaRPr lang="en-US" sz="1400" dirty="0"/>
          </a:p>
        </p:txBody>
      </p:sp>
      <p:sp>
        <p:nvSpPr>
          <p:cNvPr id="6" name="Text 4"/>
          <p:cNvSpPr/>
          <p:nvPr/>
        </p:nvSpPr>
        <p:spPr>
          <a:xfrm>
            <a:off x="182880" y="2743200"/>
            <a:ext cx="2743200" cy="320040"/>
          </a:xfrm>
          <a:prstGeom prst="rect">
            <a:avLst/>
          </a:prstGeom>
          <a:noFill/>
          <a:ln/>
        </p:spPr>
        <p:txBody>
          <a:bodyPr wrap="square" rtlCol="0" anchor="ctr"/>
          <a:lstStyle/>
          <a:p>
            <a:pPr marL="0" indent="0" algn="l">
              <a:buNone/>
            </a:pPr>
            <a:r>
              <a:rPr lang="en-US" sz="1100" dirty="0">
                <a:solidFill>
                  <a:srgbClr val="B0C4D8"/>
                </a:solidFill>
                <a:latin typeface="Calibri" pitchFamily="34" charset="0"/>
                <a:ea typeface="Calibri" pitchFamily="34" charset="-122"/>
                <a:cs typeface="Calibri" pitchFamily="34" charset="-120"/>
              </a:rPr>
              <a:t>TS 38.212 § 5.4.1.3</a:t>
            </a:r>
            <a:endParaRPr lang="en-US" sz="1100" dirty="0"/>
          </a:p>
        </p:txBody>
      </p:sp>
      <p:sp>
        <p:nvSpPr>
          <p:cNvPr id="7" name="Shape 5"/>
          <p:cNvSpPr/>
          <p:nvPr/>
        </p:nvSpPr>
        <p:spPr>
          <a:xfrm>
            <a:off x="3291840" y="228600"/>
            <a:ext cx="2697480" cy="2148840"/>
          </a:xfrm>
          <a:prstGeom prst="rect">
            <a:avLst/>
          </a:prstGeom>
          <a:solidFill>
            <a:srgbClr val="FFFFFF"/>
          </a:solidFill>
          <a:ln w="12700">
            <a:solidFill>
              <a:srgbClr val="D0DFF0"/>
            </a:solidFill>
            <a:prstDash val="solid"/>
          </a:ln>
          <a:effectLst>
            <a:outerShdw blurRad="76200" dist="25400" dir="8100000" algn="bl" rotWithShape="0">
              <a:srgbClr val="000000">
                <a:alpha val="8000"/>
              </a:srgbClr>
            </a:outerShdw>
          </a:effectLst>
        </p:spPr>
      </p:sp>
      <p:sp>
        <p:nvSpPr>
          <p:cNvPr id="8" name="Shape 6"/>
          <p:cNvSpPr/>
          <p:nvPr/>
        </p:nvSpPr>
        <p:spPr>
          <a:xfrm>
            <a:off x="3291840" y="228600"/>
            <a:ext cx="2697480" cy="54864"/>
          </a:xfrm>
          <a:prstGeom prst="rect">
            <a:avLst/>
          </a:prstGeom>
          <a:solidFill>
            <a:srgbClr val="1A73E8"/>
          </a:solidFill>
          <a:ln w="12700">
            <a:solidFill>
              <a:srgbClr val="1A73E8"/>
            </a:solidFill>
            <a:prstDash val="solid"/>
          </a:ln>
        </p:spPr>
      </p:sp>
      <p:sp>
        <p:nvSpPr>
          <p:cNvPr id="9" name="Shape 7"/>
          <p:cNvSpPr/>
          <p:nvPr/>
        </p:nvSpPr>
        <p:spPr>
          <a:xfrm>
            <a:off x="3401568" y="393192"/>
            <a:ext cx="329184" cy="329184"/>
          </a:xfrm>
          <a:prstGeom prst="ellipse">
            <a:avLst/>
          </a:prstGeom>
          <a:solidFill>
            <a:srgbClr val="1A73E8"/>
          </a:solidFill>
          <a:ln w="12700">
            <a:solidFill>
              <a:srgbClr val="1A73E8"/>
            </a:solidFill>
            <a:prstDash val="solid"/>
          </a:ln>
        </p:spPr>
      </p:sp>
      <p:sp>
        <p:nvSpPr>
          <p:cNvPr id="10" name="Text 8"/>
          <p:cNvSpPr/>
          <p:nvPr/>
        </p:nvSpPr>
        <p:spPr>
          <a:xfrm>
            <a:off x="3401568" y="3931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3822192" y="393192"/>
            <a:ext cx="2057400" cy="347472"/>
          </a:xfrm>
          <a:prstGeom prst="rect">
            <a:avLst/>
          </a:prstGeom>
          <a:noFill/>
          <a:ln/>
        </p:spPr>
        <p:txBody>
          <a:bodyPr wrap="square" rtlCol="0" anchor="ctr"/>
          <a:lstStyle/>
          <a:p>
            <a:pPr marL="0" indent="0" algn="l">
              <a:buNone/>
            </a:pPr>
            <a:r>
              <a:rPr lang="en-US" sz="1200" b="1" dirty="0">
                <a:solidFill>
                  <a:srgbClr val="0A1628"/>
                </a:solidFill>
                <a:latin typeface="Calibri" pitchFamily="34" charset="0"/>
                <a:ea typeface="Calibri" pitchFamily="34" charset="-122"/>
                <a:cs typeface="Calibri" pitchFamily="34" charset="-120"/>
              </a:rPr>
              <a:t>Burst Error Resilience</a:t>
            </a:r>
            <a:endParaRPr lang="en-US" sz="1200" dirty="0"/>
          </a:p>
        </p:txBody>
      </p:sp>
      <p:sp>
        <p:nvSpPr>
          <p:cNvPr id="12" name="Text 10"/>
          <p:cNvSpPr/>
          <p:nvPr/>
        </p:nvSpPr>
        <p:spPr>
          <a:xfrm>
            <a:off x="3401568" y="822960"/>
            <a:ext cx="2487168" cy="1463040"/>
          </a:xfrm>
          <a:prstGeom prst="rect">
            <a:avLst/>
          </a:prstGeom>
          <a:noFill/>
          <a:ln/>
        </p:spPr>
        <p:txBody>
          <a:bodyPr wrap="square"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PUCCH carries ACK/NACK, SR, and CSI — control signals with zero tolerance for bursty fading. Interleaving spreads consecutive coded bits across the time-frequency grid, converting burst errors into random errors that the channel code can correct.</a:t>
            </a:r>
            <a:endParaRPr lang="en-US" sz="950" dirty="0"/>
          </a:p>
        </p:txBody>
      </p:sp>
      <p:sp>
        <p:nvSpPr>
          <p:cNvPr id="13" name="Shape 11"/>
          <p:cNvSpPr/>
          <p:nvPr/>
        </p:nvSpPr>
        <p:spPr>
          <a:xfrm>
            <a:off x="6126480" y="228600"/>
            <a:ext cx="2697480" cy="2148840"/>
          </a:xfrm>
          <a:prstGeom prst="rect">
            <a:avLst/>
          </a:prstGeom>
          <a:solidFill>
            <a:srgbClr val="FFFFFF"/>
          </a:solidFill>
          <a:ln w="12700">
            <a:solidFill>
              <a:srgbClr val="D0DFF0"/>
            </a:solidFill>
            <a:prstDash val="solid"/>
          </a:ln>
          <a:effectLst>
            <a:outerShdw blurRad="76200" dist="25400" dir="8100000" algn="bl" rotWithShape="0">
              <a:srgbClr val="000000">
                <a:alpha val="8000"/>
              </a:srgbClr>
            </a:outerShdw>
          </a:effectLst>
        </p:spPr>
      </p:sp>
      <p:sp>
        <p:nvSpPr>
          <p:cNvPr id="14" name="Shape 12"/>
          <p:cNvSpPr/>
          <p:nvPr/>
        </p:nvSpPr>
        <p:spPr>
          <a:xfrm>
            <a:off x="6126480" y="228600"/>
            <a:ext cx="2697480" cy="54864"/>
          </a:xfrm>
          <a:prstGeom prst="rect">
            <a:avLst/>
          </a:prstGeom>
          <a:solidFill>
            <a:srgbClr val="1A73E8"/>
          </a:solidFill>
          <a:ln w="12700">
            <a:solidFill>
              <a:srgbClr val="1A73E8"/>
            </a:solidFill>
            <a:prstDash val="solid"/>
          </a:ln>
        </p:spPr>
      </p:sp>
      <p:sp>
        <p:nvSpPr>
          <p:cNvPr id="15" name="Shape 13"/>
          <p:cNvSpPr/>
          <p:nvPr/>
        </p:nvSpPr>
        <p:spPr>
          <a:xfrm>
            <a:off x="6236208" y="393192"/>
            <a:ext cx="329184" cy="329184"/>
          </a:xfrm>
          <a:prstGeom prst="ellipse">
            <a:avLst/>
          </a:prstGeom>
          <a:solidFill>
            <a:srgbClr val="1A73E8"/>
          </a:solidFill>
          <a:ln w="12700">
            <a:solidFill>
              <a:srgbClr val="1A73E8"/>
            </a:solidFill>
            <a:prstDash val="solid"/>
          </a:ln>
        </p:spPr>
      </p:sp>
      <p:sp>
        <p:nvSpPr>
          <p:cNvPr id="16" name="Text 14"/>
          <p:cNvSpPr/>
          <p:nvPr/>
        </p:nvSpPr>
        <p:spPr>
          <a:xfrm>
            <a:off x="6236208" y="39319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6656832" y="393192"/>
            <a:ext cx="2057400" cy="347472"/>
          </a:xfrm>
          <a:prstGeom prst="rect">
            <a:avLst/>
          </a:prstGeom>
          <a:noFill/>
          <a:ln/>
        </p:spPr>
        <p:txBody>
          <a:bodyPr wrap="square" rtlCol="0" anchor="ctr"/>
          <a:lstStyle/>
          <a:p>
            <a:pPr marL="0" indent="0" algn="l">
              <a:buNone/>
            </a:pPr>
            <a:r>
              <a:rPr lang="en-US" sz="1200" b="1" dirty="0">
                <a:solidFill>
                  <a:srgbClr val="0A1628"/>
                </a:solidFill>
                <a:latin typeface="Calibri" pitchFamily="34" charset="0"/>
                <a:ea typeface="Calibri" pitchFamily="34" charset="-122"/>
                <a:cs typeface="Calibri" pitchFamily="34" charset="-120"/>
              </a:rPr>
              <a:t>Frequency-Selective Fading</a:t>
            </a:r>
            <a:endParaRPr lang="en-US" sz="1200" dirty="0"/>
          </a:p>
        </p:txBody>
      </p:sp>
      <p:sp>
        <p:nvSpPr>
          <p:cNvPr id="18" name="Text 16"/>
          <p:cNvSpPr/>
          <p:nvPr/>
        </p:nvSpPr>
        <p:spPr>
          <a:xfrm>
            <a:off x="6236208" y="822960"/>
            <a:ext cx="2487168" cy="1463040"/>
          </a:xfrm>
          <a:prstGeom prst="rect">
            <a:avLst/>
          </a:prstGeom>
          <a:noFill/>
          <a:ln/>
        </p:spPr>
        <p:txBody>
          <a:bodyPr wrap="square"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5G-NR operates in wide bandwidths (FR1/FR2) where fading varies sharply across sub-carriers. Interleaving ensures no single deep fade wipes out a contiguous block of coded bits, preserving the minimum distance of the code.</a:t>
            </a:r>
            <a:endParaRPr lang="en-US" sz="950" dirty="0"/>
          </a:p>
        </p:txBody>
      </p:sp>
      <p:sp>
        <p:nvSpPr>
          <p:cNvPr id="19" name="Shape 17"/>
          <p:cNvSpPr/>
          <p:nvPr/>
        </p:nvSpPr>
        <p:spPr>
          <a:xfrm>
            <a:off x="3291840" y="2560320"/>
            <a:ext cx="2697480" cy="2148840"/>
          </a:xfrm>
          <a:prstGeom prst="rect">
            <a:avLst/>
          </a:prstGeom>
          <a:solidFill>
            <a:srgbClr val="FFFFFF"/>
          </a:solidFill>
          <a:ln w="12700">
            <a:solidFill>
              <a:srgbClr val="D0DFF0"/>
            </a:solidFill>
            <a:prstDash val="solid"/>
          </a:ln>
          <a:effectLst>
            <a:outerShdw blurRad="76200" dist="25400" dir="8100000" algn="bl" rotWithShape="0">
              <a:srgbClr val="000000">
                <a:alpha val="8000"/>
              </a:srgbClr>
            </a:outerShdw>
          </a:effectLst>
        </p:spPr>
      </p:sp>
      <p:sp>
        <p:nvSpPr>
          <p:cNvPr id="20" name="Shape 18"/>
          <p:cNvSpPr/>
          <p:nvPr/>
        </p:nvSpPr>
        <p:spPr>
          <a:xfrm>
            <a:off x="3291840" y="2560320"/>
            <a:ext cx="2697480" cy="54864"/>
          </a:xfrm>
          <a:prstGeom prst="rect">
            <a:avLst/>
          </a:prstGeom>
          <a:solidFill>
            <a:srgbClr val="1A73E8"/>
          </a:solidFill>
          <a:ln w="12700">
            <a:solidFill>
              <a:srgbClr val="1A73E8"/>
            </a:solidFill>
            <a:prstDash val="solid"/>
          </a:ln>
        </p:spPr>
      </p:sp>
      <p:sp>
        <p:nvSpPr>
          <p:cNvPr id="21" name="Shape 19"/>
          <p:cNvSpPr/>
          <p:nvPr/>
        </p:nvSpPr>
        <p:spPr>
          <a:xfrm>
            <a:off x="3401568" y="2724912"/>
            <a:ext cx="329184" cy="329184"/>
          </a:xfrm>
          <a:prstGeom prst="ellipse">
            <a:avLst/>
          </a:prstGeom>
          <a:solidFill>
            <a:srgbClr val="1A73E8"/>
          </a:solidFill>
          <a:ln w="12700">
            <a:solidFill>
              <a:srgbClr val="1A73E8"/>
            </a:solidFill>
            <a:prstDash val="solid"/>
          </a:ln>
        </p:spPr>
      </p:sp>
      <p:sp>
        <p:nvSpPr>
          <p:cNvPr id="22" name="Text 20"/>
          <p:cNvSpPr/>
          <p:nvPr/>
        </p:nvSpPr>
        <p:spPr>
          <a:xfrm>
            <a:off x="3401568" y="27249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3822192" y="2724912"/>
            <a:ext cx="2057400" cy="347472"/>
          </a:xfrm>
          <a:prstGeom prst="rect">
            <a:avLst/>
          </a:prstGeom>
          <a:noFill/>
          <a:ln/>
        </p:spPr>
        <p:txBody>
          <a:bodyPr wrap="square" rtlCol="0" anchor="ctr"/>
          <a:lstStyle/>
          <a:p>
            <a:pPr marL="0" indent="0" algn="l">
              <a:buNone/>
            </a:pPr>
            <a:r>
              <a:rPr lang="en-US" sz="1200" b="1" dirty="0">
                <a:solidFill>
                  <a:srgbClr val="0A1628"/>
                </a:solidFill>
                <a:latin typeface="Calibri" pitchFamily="34" charset="0"/>
                <a:ea typeface="Calibri" pitchFamily="34" charset="-122"/>
                <a:cs typeface="Calibri" pitchFamily="34" charset="-120"/>
              </a:rPr>
              <a:t>HARQ Reliability</a:t>
            </a:r>
            <a:endParaRPr lang="en-US" sz="1200" dirty="0"/>
          </a:p>
        </p:txBody>
      </p:sp>
      <p:sp>
        <p:nvSpPr>
          <p:cNvPr id="24" name="Text 22"/>
          <p:cNvSpPr/>
          <p:nvPr/>
        </p:nvSpPr>
        <p:spPr>
          <a:xfrm>
            <a:off x="3401568" y="3154680"/>
            <a:ext cx="2487168" cy="1463040"/>
          </a:xfrm>
          <a:prstGeom prst="rect">
            <a:avLst/>
          </a:prstGeom>
          <a:noFill/>
          <a:ln/>
        </p:spPr>
        <p:txBody>
          <a:bodyPr wrap="square"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PUCCH HARQ feedback drives retransmission decisions for the entire data channel. A single missed ACK can waste an entire slot. Interleaving maximises diversity gain, keeping BLER low even at the cell edge.</a:t>
            </a:r>
            <a:endParaRPr lang="en-US" sz="950" dirty="0"/>
          </a:p>
        </p:txBody>
      </p:sp>
      <p:sp>
        <p:nvSpPr>
          <p:cNvPr id="25" name="Shape 23"/>
          <p:cNvSpPr/>
          <p:nvPr/>
        </p:nvSpPr>
        <p:spPr>
          <a:xfrm>
            <a:off x="6126480" y="2560320"/>
            <a:ext cx="2697480" cy="2148840"/>
          </a:xfrm>
          <a:prstGeom prst="rect">
            <a:avLst/>
          </a:prstGeom>
          <a:solidFill>
            <a:srgbClr val="FFFFFF"/>
          </a:solidFill>
          <a:ln w="12700">
            <a:solidFill>
              <a:srgbClr val="D0DFF0"/>
            </a:solidFill>
            <a:prstDash val="solid"/>
          </a:ln>
          <a:effectLst>
            <a:outerShdw blurRad="76200" dist="25400" dir="8100000" algn="bl" rotWithShape="0">
              <a:srgbClr val="000000">
                <a:alpha val="8000"/>
              </a:srgbClr>
            </a:outerShdw>
          </a:effectLst>
        </p:spPr>
      </p:sp>
      <p:sp>
        <p:nvSpPr>
          <p:cNvPr id="26" name="Shape 24"/>
          <p:cNvSpPr/>
          <p:nvPr/>
        </p:nvSpPr>
        <p:spPr>
          <a:xfrm>
            <a:off x="6126480" y="2560320"/>
            <a:ext cx="2697480" cy="54864"/>
          </a:xfrm>
          <a:prstGeom prst="rect">
            <a:avLst/>
          </a:prstGeom>
          <a:solidFill>
            <a:srgbClr val="1A73E8"/>
          </a:solidFill>
          <a:ln w="12700">
            <a:solidFill>
              <a:srgbClr val="1A73E8"/>
            </a:solidFill>
            <a:prstDash val="solid"/>
          </a:ln>
        </p:spPr>
      </p:sp>
      <p:sp>
        <p:nvSpPr>
          <p:cNvPr id="27" name="Shape 25"/>
          <p:cNvSpPr/>
          <p:nvPr/>
        </p:nvSpPr>
        <p:spPr>
          <a:xfrm>
            <a:off x="6236208" y="2724912"/>
            <a:ext cx="329184" cy="329184"/>
          </a:xfrm>
          <a:prstGeom prst="ellipse">
            <a:avLst/>
          </a:prstGeom>
          <a:solidFill>
            <a:srgbClr val="1A73E8"/>
          </a:solidFill>
          <a:ln w="12700">
            <a:solidFill>
              <a:srgbClr val="1A73E8"/>
            </a:solidFill>
            <a:prstDash val="solid"/>
          </a:ln>
        </p:spPr>
      </p:sp>
      <p:sp>
        <p:nvSpPr>
          <p:cNvPr id="28" name="Text 26"/>
          <p:cNvSpPr/>
          <p:nvPr/>
        </p:nvSpPr>
        <p:spPr>
          <a:xfrm>
            <a:off x="6236208" y="27249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6656832" y="2724912"/>
            <a:ext cx="2057400" cy="347472"/>
          </a:xfrm>
          <a:prstGeom prst="rect">
            <a:avLst/>
          </a:prstGeom>
          <a:noFill/>
          <a:ln/>
        </p:spPr>
        <p:txBody>
          <a:bodyPr wrap="square" rtlCol="0" anchor="ctr"/>
          <a:lstStyle/>
          <a:p>
            <a:pPr marL="0" indent="0" algn="l">
              <a:buNone/>
            </a:pPr>
            <a:r>
              <a:rPr lang="en-US" sz="1200" b="1" dirty="0">
                <a:solidFill>
                  <a:srgbClr val="0A1628"/>
                </a:solidFill>
                <a:latin typeface="Calibri" pitchFamily="34" charset="0"/>
                <a:ea typeface="Calibri" pitchFamily="34" charset="-122"/>
                <a:cs typeface="Calibri" pitchFamily="34" charset="-120"/>
              </a:rPr>
              <a:t>Isosceles Triangle Structure</a:t>
            </a:r>
            <a:endParaRPr lang="en-US" sz="1200" dirty="0"/>
          </a:p>
        </p:txBody>
      </p:sp>
      <p:sp>
        <p:nvSpPr>
          <p:cNvPr id="30" name="Text 28"/>
          <p:cNvSpPr/>
          <p:nvPr/>
        </p:nvSpPr>
        <p:spPr>
          <a:xfrm>
            <a:off x="6236208" y="3154680"/>
            <a:ext cx="2487168" cy="1463040"/>
          </a:xfrm>
          <a:prstGeom prst="rect">
            <a:avLst/>
          </a:prstGeom>
          <a:noFill/>
          <a:ln/>
        </p:spPr>
        <p:txBody>
          <a:bodyPr wrap="square" rtlCol="0" anchor="t"/>
          <a:lstStyle/>
          <a:p>
            <a:pPr marL="0" indent="0" algn="l">
              <a:buNone/>
            </a:pPr>
            <a:r>
              <a:rPr lang="en-US" sz="950" dirty="0">
                <a:solidFill>
                  <a:srgbClr val="64748B"/>
                </a:solidFill>
                <a:latin typeface="Calibri" pitchFamily="34" charset="0"/>
                <a:ea typeface="Calibri" pitchFamily="34" charset="-122"/>
                <a:cs typeface="Calibri" pitchFamily="34" charset="-120"/>
              </a:rPr>
              <a:t>The triangular write-then-column-read pattern (Algorithm 1) achieves a near-optimal bit-separation distance with a simple, low-latency HW implementation — critical for the 11 µs timing budget in 5G slot processing.</a:t>
            </a:r>
            <a:endParaRPr lang="en-US" sz="950" dirty="0"/>
          </a:p>
        </p:txBody>
      </p:sp>
      <p:sp>
        <p:nvSpPr>
          <p:cNvPr id="31" name="Shape 29"/>
          <p:cNvSpPr/>
          <p:nvPr/>
        </p:nvSpPr>
        <p:spPr>
          <a:xfrm>
            <a:off x="0" y="5097780"/>
            <a:ext cx="9144000" cy="45720"/>
          </a:xfrm>
          <a:prstGeom prst="rect">
            <a:avLst/>
          </a:prstGeom>
          <a:solidFill>
            <a:srgbClr val="1A73E8"/>
          </a:solidFill>
          <a:ln w="12700">
            <a:solidFill>
              <a:srgbClr val="1A73E8"/>
            </a:solidFill>
            <a:prstDash val="solid"/>
          </a:ln>
        </p:spPr>
      </p:sp>
      <p:sp>
        <p:nvSpPr>
          <p:cNvPr id="32" name="Text 30"/>
          <p:cNvSpPr/>
          <p:nvPr/>
        </p:nvSpPr>
        <p:spPr>
          <a:xfrm>
            <a:off x="7772400" y="4846320"/>
            <a:ext cx="11887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Slide 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8E0"/>
          </a:solidFill>
          <a:ln w="12700">
            <a:solidFill>
              <a:srgbClr val="00C8E0"/>
            </a:solidFill>
            <a:prstDash val="solid"/>
          </a:ln>
        </p:spPr>
      </p:sp>
      <p:sp>
        <p:nvSpPr>
          <p:cNvPr id="3" name="Text 1"/>
          <p:cNvSpPr/>
          <p:nvPr/>
        </p:nvSpPr>
        <p:spPr>
          <a:xfrm>
            <a:off x="365760" y="201168"/>
            <a:ext cx="64008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Implementation Overview</a:t>
            </a:r>
            <a:endParaRPr lang="en-US" sz="2600" dirty="0"/>
          </a:p>
        </p:txBody>
      </p:sp>
      <p:sp>
        <p:nvSpPr>
          <p:cNvPr id="4" name="Shape 2"/>
          <p:cNvSpPr/>
          <p:nvPr/>
        </p:nvSpPr>
        <p:spPr>
          <a:xfrm>
            <a:off x="164592" y="868680"/>
            <a:ext cx="1600200" cy="1188720"/>
          </a:xfrm>
          <a:prstGeom prst="rect">
            <a:avLst/>
          </a:prstGeom>
          <a:solidFill>
            <a:srgbClr val="102040"/>
          </a:solidFill>
          <a:ln w="12700">
            <a:solidFill>
              <a:srgbClr val="1A73E8"/>
            </a:solidFill>
            <a:prstDash val="solid"/>
          </a:ln>
        </p:spPr>
      </p:sp>
      <p:sp>
        <p:nvSpPr>
          <p:cNvPr id="5" name="Text 3"/>
          <p:cNvSpPr/>
          <p:nvPr/>
        </p:nvSpPr>
        <p:spPr>
          <a:xfrm>
            <a:off x="164592" y="868680"/>
            <a:ext cx="1600200"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①  Read 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 Derive T</a:t>
            </a:r>
            <a:endParaRPr lang="en-US" sz="1100" dirty="0"/>
          </a:p>
        </p:txBody>
      </p:sp>
      <p:sp>
        <p:nvSpPr>
          <p:cNvPr id="6" name="Shape 4"/>
          <p:cNvSpPr/>
          <p:nvPr/>
        </p:nvSpPr>
        <p:spPr>
          <a:xfrm>
            <a:off x="164592" y="1581912"/>
            <a:ext cx="1600200" cy="475488"/>
          </a:xfrm>
          <a:prstGeom prst="rect">
            <a:avLst/>
          </a:prstGeom>
          <a:solidFill>
            <a:srgbClr val="0A2035"/>
          </a:solidFill>
          <a:ln w="12700">
            <a:solidFill>
              <a:srgbClr val="0A2035"/>
            </a:solidFill>
            <a:prstDash val="solid"/>
          </a:ln>
        </p:spPr>
      </p:sp>
      <p:sp>
        <p:nvSpPr>
          <p:cNvPr id="7" name="Text 5"/>
          <p:cNvSpPr/>
          <p:nvPr/>
        </p:nvSpPr>
        <p:spPr>
          <a:xfrm>
            <a:off x="164592" y="1581912"/>
            <a:ext cx="1600200" cy="475488"/>
          </a:xfrm>
          <a:prstGeom prst="rect">
            <a:avLst/>
          </a:prstGeom>
          <a:noFill/>
          <a:ln/>
        </p:spPr>
        <p:txBody>
          <a:bodyPr wrap="square" rtlCol="0" anchor="ctr"/>
          <a:lstStyle/>
          <a:p>
            <a:pPr marL="0" indent="0" algn="ctr">
              <a:buNone/>
            </a:pPr>
            <a:r>
              <a:rPr lang="en-US" sz="900" dirty="0">
                <a:solidFill>
                  <a:srgbClr val="00C8E0"/>
                </a:solidFill>
                <a:latin typeface="Calibri" pitchFamily="34" charset="0"/>
                <a:ea typeface="Calibri" pitchFamily="34" charset="-122"/>
                <a:cs typeface="Calibri" pitchFamily="34" charset="-120"/>
              </a:rPr>
              <a:t>cnData stream</a:t>
            </a:r>
            <a:endParaRPr lang="en-US" sz="900" dirty="0"/>
          </a:p>
          <a:p>
            <a:pPr marL="0" indent="0" algn="ctr">
              <a:buNone/>
            </a:pPr>
            <a:r>
              <a:rPr lang="en-US" sz="900" dirty="0">
                <a:solidFill>
                  <a:srgbClr val="00C8E0"/>
                </a:solidFill>
                <a:latin typeface="Calibri" pitchFamily="34" charset="0"/>
                <a:ea typeface="Calibri" pitchFamily="34" charset="-122"/>
                <a:cs typeface="Calibri" pitchFamily="34" charset="-120"/>
              </a:rPr>
              <a:t>LUT lookup</a:t>
            </a:r>
            <a:endParaRPr lang="en-US" sz="900" dirty="0"/>
          </a:p>
        </p:txBody>
      </p:sp>
      <p:sp>
        <p:nvSpPr>
          <p:cNvPr id="8" name="Shape 6"/>
          <p:cNvSpPr/>
          <p:nvPr/>
        </p:nvSpPr>
        <p:spPr>
          <a:xfrm>
            <a:off x="1764792" y="1399032"/>
            <a:ext cx="182880" cy="54864"/>
          </a:xfrm>
          <a:prstGeom prst="rect">
            <a:avLst/>
          </a:prstGeom>
          <a:solidFill>
            <a:srgbClr val="00C8E0"/>
          </a:solidFill>
          <a:ln w="12700">
            <a:solidFill>
              <a:srgbClr val="00C8E0"/>
            </a:solidFill>
            <a:prstDash val="solid"/>
          </a:ln>
        </p:spPr>
      </p:sp>
      <p:sp>
        <p:nvSpPr>
          <p:cNvPr id="9" name="Text 7"/>
          <p:cNvSpPr/>
          <p:nvPr/>
        </p:nvSpPr>
        <p:spPr>
          <a:xfrm>
            <a:off x="1856232" y="1298448"/>
            <a:ext cx="164592" cy="256032"/>
          </a:xfrm>
          <a:prstGeom prst="rect">
            <a:avLst/>
          </a:prstGeom>
          <a:noFill/>
          <a:ln/>
        </p:spPr>
        <p:txBody>
          <a:bodyPr wrap="square" rtlCol="0" anchor="ctr"/>
          <a:lstStyle/>
          <a:p>
            <a:pPr marL="0" indent="0" algn="ctr">
              <a:buNone/>
            </a:pPr>
            <a:r>
              <a:rPr lang="en-US" sz="1100" dirty="0">
                <a:solidFill>
                  <a:srgbClr val="00C8E0"/>
                </a:solidFill>
                <a:latin typeface="Calibri" pitchFamily="34" charset="0"/>
                <a:ea typeface="Calibri" pitchFamily="34" charset="-122"/>
                <a:cs typeface="Calibri" pitchFamily="34" charset="-120"/>
              </a:rPr>
              <a:t>▶</a:t>
            </a:r>
            <a:endParaRPr lang="en-US" sz="1100" dirty="0"/>
          </a:p>
        </p:txBody>
      </p:sp>
      <p:sp>
        <p:nvSpPr>
          <p:cNvPr id="10" name="Shape 8"/>
          <p:cNvSpPr/>
          <p:nvPr/>
        </p:nvSpPr>
        <p:spPr>
          <a:xfrm>
            <a:off x="1947672" y="868680"/>
            <a:ext cx="1600200" cy="1188720"/>
          </a:xfrm>
          <a:prstGeom prst="rect">
            <a:avLst/>
          </a:prstGeom>
          <a:solidFill>
            <a:srgbClr val="102040"/>
          </a:solidFill>
          <a:ln w="12700">
            <a:solidFill>
              <a:srgbClr val="1A73E8"/>
            </a:solidFill>
            <a:prstDash val="solid"/>
          </a:ln>
        </p:spPr>
      </p:sp>
      <p:sp>
        <p:nvSpPr>
          <p:cNvPr id="11" name="Text 9"/>
          <p:cNvSpPr/>
          <p:nvPr/>
        </p:nvSpPr>
        <p:spPr>
          <a:xfrm>
            <a:off x="1947672" y="868680"/>
            <a:ext cx="1600200"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②  Receive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Input Bits</a:t>
            </a:r>
            <a:endParaRPr lang="en-US" sz="1100" dirty="0"/>
          </a:p>
        </p:txBody>
      </p:sp>
      <p:sp>
        <p:nvSpPr>
          <p:cNvPr id="12" name="Shape 10"/>
          <p:cNvSpPr/>
          <p:nvPr/>
        </p:nvSpPr>
        <p:spPr>
          <a:xfrm>
            <a:off x="1947672" y="1581912"/>
            <a:ext cx="1600200" cy="475488"/>
          </a:xfrm>
          <a:prstGeom prst="rect">
            <a:avLst/>
          </a:prstGeom>
          <a:solidFill>
            <a:srgbClr val="0A2035"/>
          </a:solidFill>
          <a:ln w="12700">
            <a:solidFill>
              <a:srgbClr val="0A2035"/>
            </a:solidFill>
            <a:prstDash val="solid"/>
          </a:ln>
        </p:spPr>
      </p:sp>
      <p:sp>
        <p:nvSpPr>
          <p:cNvPr id="13" name="Text 11"/>
          <p:cNvSpPr/>
          <p:nvPr/>
        </p:nvSpPr>
        <p:spPr>
          <a:xfrm>
            <a:off x="1947672" y="1581912"/>
            <a:ext cx="1600200" cy="475488"/>
          </a:xfrm>
          <a:prstGeom prst="rect">
            <a:avLst/>
          </a:prstGeom>
          <a:noFill/>
          <a:ln/>
        </p:spPr>
        <p:txBody>
          <a:bodyPr wrap="square" rtlCol="0" anchor="ctr"/>
          <a:lstStyle/>
          <a:p>
            <a:pPr marL="0" indent="0" algn="ctr">
              <a:buNone/>
            </a:pPr>
            <a:r>
              <a:rPr lang="en-US" sz="900" dirty="0">
                <a:solidFill>
                  <a:srgbClr val="00C8E0"/>
                </a:solidFill>
                <a:latin typeface="Calibri" pitchFamily="34" charset="0"/>
                <a:ea typeface="Calibri" pitchFamily="34" charset="-122"/>
                <a:cs typeface="Calibri" pitchFamily="34" charset="-120"/>
              </a:rPr>
              <a:t>≤4 AXI words</a:t>
            </a:r>
            <a:endParaRPr lang="en-US" sz="900" dirty="0"/>
          </a:p>
          <a:p>
            <a:pPr marL="0" indent="0" algn="ctr">
              <a:buNone/>
            </a:pPr>
            <a:r>
              <a:rPr lang="en-US" sz="900" dirty="0">
                <a:solidFill>
                  <a:srgbClr val="00C8E0"/>
                </a:solidFill>
                <a:latin typeface="Calibri" pitchFamily="34" charset="0"/>
                <a:ea typeface="Calibri" pitchFamily="34" charset="-122"/>
                <a:cs typeface="Calibri" pitchFamily="34" charset="-120"/>
              </a:rPr>
              <a:t>128-bit bus</a:t>
            </a:r>
            <a:endParaRPr lang="en-US" sz="900" dirty="0"/>
          </a:p>
        </p:txBody>
      </p:sp>
      <p:sp>
        <p:nvSpPr>
          <p:cNvPr id="14" name="Shape 12"/>
          <p:cNvSpPr/>
          <p:nvPr/>
        </p:nvSpPr>
        <p:spPr>
          <a:xfrm>
            <a:off x="3547872" y="1399032"/>
            <a:ext cx="182880" cy="54864"/>
          </a:xfrm>
          <a:prstGeom prst="rect">
            <a:avLst/>
          </a:prstGeom>
          <a:solidFill>
            <a:srgbClr val="00C8E0"/>
          </a:solidFill>
          <a:ln w="12700">
            <a:solidFill>
              <a:srgbClr val="00C8E0"/>
            </a:solidFill>
            <a:prstDash val="solid"/>
          </a:ln>
        </p:spPr>
      </p:sp>
      <p:sp>
        <p:nvSpPr>
          <p:cNvPr id="15" name="Text 13"/>
          <p:cNvSpPr/>
          <p:nvPr/>
        </p:nvSpPr>
        <p:spPr>
          <a:xfrm>
            <a:off x="3639312" y="1298448"/>
            <a:ext cx="164592" cy="256032"/>
          </a:xfrm>
          <a:prstGeom prst="rect">
            <a:avLst/>
          </a:prstGeom>
          <a:noFill/>
          <a:ln/>
        </p:spPr>
        <p:txBody>
          <a:bodyPr wrap="square" rtlCol="0" anchor="ctr"/>
          <a:lstStyle/>
          <a:p>
            <a:pPr marL="0" indent="0" algn="ctr">
              <a:buNone/>
            </a:pPr>
            <a:r>
              <a:rPr lang="en-US" sz="1100" dirty="0">
                <a:solidFill>
                  <a:srgbClr val="00C8E0"/>
                </a:solidFill>
                <a:latin typeface="Calibri" pitchFamily="34" charset="0"/>
                <a:ea typeface="Calibri" pitchFamily="34" charset="-122"/>
                <a:cs typeface="Calibri" pitchFamily="34" charset="-120"/>
              </a:rPr>
              <a:t>▶</a:t>
            </a:r>
            <a:endParaRPr lang="en-US" sz="1100" dirty="0"/>
          </a:p>
        </p:txBody>
      </p:sp>
      <p:sp>
        <p:nvSpPr>
          <p:cNvPr id="16" name="Shape 14"/>
          <p:cNvSpPr/>
          <p:nvPr/>
        </p:nvSpPr>
        <p:spPr>
          <a:xfrm>
            <a:off x="3730752" y="868680"/>
            <a:ext cx="1600200" cy="1188720"/>
          </a:xfrm>
          <a:prstGeom prst="rect">
            <a:avLst/>
          </a:prstGeom>
          <a:solidFill>
            <a:srgbClr val="102040"/>
          </a:solidFill>
          <a:ln w="12700">
            <a:solidFill>
              <a:srgbClr val="1A73E8"/>
            </a:solidFill>
            <a:prstDash val="solid"/>
          </a:ln>
        </p:spPr>
      </p:sp>
      <p:sp>
        <p:nvSpPr>
          <p:cNvPr id="17" name="Text 15"/>
          <p:cNvSpPr/>
          <p:nvPr/>
        </p:nvSpPr>
        <p:spPr>
          <a:xfrm>
            <a:off x="3730752" y="868680"/>
            <a:ext cx="1600200"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③  Interleave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(Flat Loop)</a:t>
            </a:r>
            <a:endParaRPr lang="en-US" sz="1100" dirty="0"/>
          </a:p>
        </p:txBody>
      </p:sp>
      <p:sp>
        <p:nvSpPr>
          <p:cNvPr id="18" name="Shape 16"/>
          <p:cNvSpPr/>
          <p:nvPr/>
        </p:nvSpPr>
        <p:spPr>
          <a:xfrm>
            <a:off x="3730752" y="1581912"/>
            <a:ext cx="1600200" cy="475488"/>
          </a:xfrm>
          <a:prstGeom prst="rect">
            <a:avLst/>
          </a:prstGeom>
          <a:solidFill>
            <a:srgbClr val="0A2035"/>
          </a:solidFill>
          <a:ln w="12700">
            <a:solidFill>
              <a:srgbClr val="0A2035"/>
            </a:solidFill>
            <a:prstDash val="solid"/>
          </a:ln>
        </p:spPr>
      </p:sp>
      <p:sp>
        <p:nvSpPr>
          <p:cNvPr id="19" name="Text 17"/>
          <p:cNvSpPr/>
          <p:nvPr/>
        </p:nvSpPr>
        <p:spPr>
          <a:xfrm>
            <a:off x="3730752" y="1581912"/>
            <a:ext cx="1600200" cy="475488"/>
          </a:xfrm>
          <a:prstGeom prst="rect">
            <a:avLst/>
          </a:prstGeom>
          <a:noFill/>
          <a:ln/>
        </p:spPr>
        <p:txBody>
          <a:bodyPr wrap="square" rtlCol="0" anchor="ctr"/>
          <a:lstStyle/>
          <a:p>
            <a:pPr marL="0" indent="0" algn="ctr">
              <a:buNone/>
            </a:pPr>
            <a:r>
              <a:rPr lang="en-US" sz="900" dirty="0">
                <a:solidFill>
                  <a:srgbClr val="00C8E0"/>
                </a:solidFill>
                <a:latin typeface="Calibri" pitchFamily="34" charset="0"/>
                <a:ea typeface="Calibri" pitchFamily="34" charset="-122"/>
                <a:cs typeface="Calibri" pitchFamily="34" charset="-120"/>
              </a:rPr>
              <a:t>k_src formula</a:t>
            </a:r>
            <a:endParaRPr lang="en-US" sz="900" dirty="0"/>
          </a:p>
          <a:p>
            <a:pPr marL="0" indent="0" algn="ctr">
              <a:buNone/>
            </a:pPr>
            <a:r>
              <a:rPr lang="en-US" sz="900" dirty="0">
                <a:solidFill>
                  <a:srgbClr val="00C8E0"/>
                </a:solidFill>
                <a:latin typeface="Calibri" pitchFamily="34" charset="0"/>
                <a:ea typeface="Calibri" pitchFamily="34" charset="-122"/>
                <a:cs typeface="Calibri" pitchFamily="34" charset="-120"/>
              </a:rPr>
              <a:t>II=1 pipeline</a:t>
            </a:r>
            <a:endParaRPr lang="en-US" sz="900" dirty="0"/>
          </a:p>
        </p:txBody>
      </p:sp>
      <p:sp>
        <p:nvSpPr>
          <p:cNvPr id="20" name="Shape 18"/>
          <p:cNvSpPr/>
          <p:nvPr/>
        </p:nvSpPr>
        <p:spPr>
          <a:xfrm>
            <a:off x="5330952" y="1399032"/>
            <a:ext cx="182880" cy="54864"/>
          </a:xfrm>
          <a:prstGeom prst="rect">
            <a:avLst/>
          </a:prstGeom>
          <a:solidFill>
            <a:srgbClr val="00C8E0"/>
          </a:solidFill>
          <a:ln w="12700">
            <a:solidFill>
              <a:srgbClr val="00C8E0"/>
            </a:solidFill>
            <a:prstDash val="solid"/>
          </a:ln>
        </p:spPr>
      </p:sp>
      <p:sp>
        <p:nvSpPr>
          <p:cNvPr id="21" name="Text 19"/>
          <p:cNvSpPr/>
          <p:nvPr/>
        </p:nvSpPr>
        <p:spPr>
          <a:xfrm>
            <a:off x="5422392" y="1298448"/>
            <a:ext cx="164592" cy="256032"/>
          </a:xfrm>
          <a:prstGeom prst="rect">
            <a:avLst/>
          </a:prstGeom>
          <a:noFill/>
          <a:ln/>
        </p:spPr>
        <p:txBody>
          <a:bodyPr wrap="square" rtlCol="0" anchor="ctr"/>
          <a:lstStyle/>
          <a:p>
            <a:pPr marL="0" indent="0" algn="ctr">
              <a:buNone/>
            </a:pPr>
            <a:r>
              <a:rPr lang="en-US" sz="1100" dirty="0">
                <a:solidFill>
                  <a:srgbClr val="00C8E0"/>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5513832" y="868680"/>
            <a:ext cx="1600200" cy="1188720"/>
          </a:xfrm>
          <a:prstGeom prst="rect">
            <a:avLst/>
          </a:prstGeom>
          <a:solidFill>
            <a:srgbClr val="102040"/>
          </a:solidFill>
          <a:ln w="12700">
            <a:solidFill>
              <a:srgbClr val="1A73E8"/>
            </a:solidFill>
            <a:prstDash val="solid"/>
          </a:ln>
        </p:spPr>
      </p:sp>
      <p:sp>
        <p:nvSpPr>
          <p:cNvPr id="23" name="Text 21"/>
          <p:cNvSpPr/>
          <p:nvPr/>
        </p:nvSpPr>
        <p:spPr>
          <a:xfrm>
            <a:off x="5513832" y="868680"/>
            <a:ext cx="1600200"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④  Pack</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Output Bits</a:t>
            </a:r>
            <a:endParaRPr lang="en-US" sz="1100" dirty="0"/>
          </a:p>
        </p:txBody>
      </p:sp>
      <p:sp>
        <p:nvSpPr>
          <p:cNvPr id="24" name="Shape 22"/>
          <p:cNvSpPr/>
          <p:nvPr/>
        </p:nvSpPr>
        <p:spPr>
          <a:xfrm>
            <a:off x="5513832" y="1581912"/>
            <a:ext cx="1600200" cy="475488"/>
          </a:xfrm>
          <a:prstGeom prst="rect">
            <a:avLst/>
          </a:prstGeom>
          <a:solidFill>
            <a:srgbClr val="0A2035"/>
          </a:solidFill>
          <a:ln w="12700">
            <a:solidFill>
              <a:srgbClr val="0A2035"/>
            </a:solidFill>
            <a:prstDash val="solid"/>
          </a:ln>
        </p:spPr>
      </p:sp>
      <p:sp>
        <p:nvSpPr>
          <p:cNvPr id="25" name="Text 23"/>
          <p:cNvSpPr/>
          <p:nvPr/>
        </p:nvSpPr>
        <p:spPr>
          <a:xfrm>
            <a:off x="5513832" y="1581912"/>
            <a:ext cx="1600200" cy="475488"/>
          </a:xfrm>
          <a:prstGeom prst="rect">
            <a:avLst/>
          </a:prstGeom>
          <a:noFill/>
          <a:ln/>
        </p:spPr>
        <p:txBody>
          <a:bodyPr wrap="square" rtlCol="0" anchor="ctr"/>
          <a:lstStyle/>
          <a:p>
            <a:pPr marL="0" indent="0" algn="ctr">
              <a:buNone/>
            </a:pPr>
            <a:r>
              <a:rPr lang="en-US" sz="900" dirty="0">
                <a:solidFill>
                  <a:srgbClr val="00C8E0"/>
                </a:solidFill>
                <a:latin typeface="Calibri" pitchFamily="34" charset="0"/>
                <a:ea typeface="Calibri" pitchFamily="34" charset="-122"/>
                <a:cs typeface="Calibri" pitchFamily="34" charset="-120"/>
              </a:rPr>
              <a:t>MSB-first</a:t>
            </a:r>
            <a:endParaRPr lang="en-US" sz="900" dirty="0"/>
          </a:p>
          <a:p>
            <a:pPr marL="0" indent="0" algn="ctr">
              <a:buNone/>
            </a:pPr>
            <a:r>
              <a:rPr lang="en-US" sz="900" dirty="0">
                <a:solidFill>
                  <a:srgbClr val="00C8E0"/>
                </a:solidFill>
                <a:latin typeface="Calibri" pitchFamily="34" charset="0"/>
                <a:ea typeface="Calibri" pitchFamily="34" charset="-122"/>
                <a:cs typeface="Calibri" pitchFamily="34" charset="-120"/>
              </a:rPr>
              <a:t>buffer</a:t>
            </a:r>
            <a:endParaRPr lang="en-US" sz="900" dirty="0"/>
          </a:p>
        </p:txBody>
      </p:sp>
      <p:sp>
        <p:nvSpPr>
          <p:cNvPr id="26" name="Shape 24"/>
          <p:cNvSpPr/>
          <p:nvPr/>
        </p:nvSpPr>
        <p:spPr>
          <a:xfrm>
            <a:off x="7114032" y="1399032"/>
            <a:ext cx="182880" cy="54864"/>
          </a:xfrm>
          <a:prstGeom prst="rect">
            <a:avLst/>
          </a:prstGeom>
          <a:solidFill>
            <a:srgbClr val="00C8E0"/>
          </a:solidFill>
          <a:ln w="12700">
            <a:solidFill>
              <a:srgbClr val="00C8E0"/>
            </a:solidFill>
            <a:prstDash val="solid"/>
          </a:ln>
        </p:spPr>
      </p:sp>
      <p:sp>
        <p:nvSpPr>
          <p:cNvPr id="27" name="Text 25"/>
          <p:cNvSpPr/>
          <p:nvPr/>
        </p:nvSpPr>
        <p:spPr>
          <a:xfrm>
            <a:off x="7205472" y="1298448"/>
            <a:ext cx="164592" cy="256032"/>
          </a:xfrm>
          <a:prstGeom prst="rect">
            <a:avLst/>
          </a:prstGeom>
          <a:noFill/>
          <a:ln/>
        </p:spPr>
        <p:txBody>
          <a:bodyPr wrap="square" rtlCol="0" anchor="ctr"/>
          <a:lstStyle/>
          <a:p>
            <a:pPr marL="0" indent="0" algn="ctr">
              <a:buNone/>
            </a:pPr>
            <a:r>
              <a:rPr lang="en-US" sz="1100" dirty="0">
                <a:solidFill>
                  <a:srgbClr val="00C8E0"/>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7296912" y="868680"/>
            <a:ext cx="1600200" cy="1188720"/>
          </a:xfrm>
          <a:prstGeom prst="rect">
            <a:avLst/>
          </a:prstGeom>
          <a:solidFill>
            <a:srgbClr val="102040"/>
          </a:solidFill>
          <a:ln w="12700">
            <a:solidFill>
              <a:srgbClr val="1A73E8"/>
            </a:solidFill>
            <a:prstDash val="solid"/>
          </a:ln>
        </p:spPr>
      </p:sp>
      <p:sp>
        <p:nvSpPr>
          <p:cNvPr id="29" name="Text 27"/>
          <p:cNvSpPr/>
          <p:nvPr/>
        </p:nvSpPr>
        <p:spPr>
          <a:xfrm>
            <a:off x="7296912" y="868680"/>
            <a:ext cx="1600200"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⑤  Transmit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30" name="Shape 28"/>
          <p:cNvSpPr/>
          <p:nvPr/>
        </p:nvSpPr>
        <p:spPr>
          <a:xfrm>
            <a:off x="7296912" y="1581912"/>
            <a:ext cx="1600200" cy="475488"/>
          </a:xfrm>
          <a:prstGeom prst="rect">
            <a:avLst/>
          </a:prstGeom>
          <a:solidFill>
            <a:srgbClr val="0A2035"/>
          </a:solidFill>
          <a:ln w="12700">
            <a:solidFill>
              <a:srgbClr val="0A2035"/>
            </a:solidFill>
            <a:prstDash val="solid"/>
          </a:ln>
        </p:spPr>
      </p:sp>
      <p:sp>
        <p:nvSpPr>
          <p:cNvPr id="31" name="Text 29"/>
          <p:cNvSpPr/>
          <p:nvPr/>
        </p:nvSpPr>
        <p:spPr>
          <a:xfrm>
            <a:off x="7296912" y="1581912"/>
            <a:ext cx="1600200" cy="475488"/>
          </a:xfrm>
          <a:prstGeom prst="rect">
            <a:avLst/>
          </a:prstGeom>
          <a:noFill/>
          <a:ln/>
        </p:spPr>
        <p:txBody>
          <a:bodyPr wrap="square" rtlCol="0" anchor="ctr"/>
          <a:lstStyle/>
          <a:p>
            <a:pPr marL="0" indent="0" algn="ctr">
              <a:buNone/>
            </a:pPr>
            <a:r>
              <a:rPr lang="en-US" sz="900" dirty="0">
                <a:solidFill>
                  <a:srgbClr val="00C8E0"/>
                </a:solidFill>
                <a:latin typeface="Calibri" pitchFamily="34" charset="0"/>
                <a:ea typeface="Calibri" pitchFamily="34" charset="-122"/>
                <a:cs typeface="Calibri" pitchFamily="34" charset="-120"/>
              </a:rPr>
              <a:t>outData stream</a:t>
            </a:r>
            <a:endParaRPr lang="en-US" sz="900" dirty="0"/>
          </a:p>
          <a:p>
            <a:pPr marL="0" indent="0" algn="ctr">
              <a:buNone/>
            </a:pPr>
            <a:r>
              <a:rPr lang="en-US" sz="900" dirty="0">
                <a:solidFill>
                  <a:srgbClr val="00C8E0"/>
                </a:solidFill>
                <a:latin typeface="Calibri" pitchFamily="34" charset="0"/>
                <a:ea typeface="Calibri" pitchFamily="34" charset="-122"/>
                <a:cs typeface="Calibri" pitchFamily="34" charset="-120"/>
              </a:rPr>
              <a:t>tlast on last</a:t>
            </a:r>
            <a:endParaRPr lang="en-US" sz="900" dirty="0"/>
          </a:p>
        </p:txBody>
      </p:sp>
      <p:sp>
        <p:nvSpPr>
          <p:cNvPr id="32" name="Shape 30"/>
          <p:cNvSpPr/>
          <p:nvPr/>
        </p:nvSpPr>
        <p:spPr>
          <a:xfrm>
            <a:off x="164592" y="2331720"/>
            <a:ext cx="4023360" cy="1051560"/>
          </a:xfrm>
          <a:prstGeom prst="rect">
            <a:avLst/>
          </a:prstGeom>
          <a:solidFill>
            <a:srgbClr val="0D2240"/>
          </a:solidFill>
          <a:ln w="12700">
            <a:solidFill>
              <a:srgbClr val="1A4070"/>
            </a:solidFill>
            <a:prstDash val="solid"/>
          </a:ln>
        </p:spPr>
      </p:sp>
      <p:sp>
        <p:nvSpPr>
          <p:cNvPr id="33" name="Shape 31"/>
          <p:cNvSpPr/>
          <p:nvPr/>
        </p:nvSpPr>
        <p:spPr>
          <a:xfrm>
            <a:off x="164592" y="2331720"/>
            <a:ext cx="54864" cy="1051560"/>
          </a:xfrm>
          <a:prstGeom prst="rect">
            <a:avLst/>
          </a:prstGeom>
          <a:solidFill>
            <a:srgbClr val="00C8E0"/>
          </a:solidFill>
          <a:ln w="12700">
            <a:solidFill>
              <a:srgbClr val="00C8E0"/>
            </a:solidFill>
            <a:prstDash val="solid"/>
          </a:ln>
        </p:spPr>
      </p:sp>
      <p:sp>
        <p:nvSpPr>
          <p:cNvPr id="34" name="Text 32"/>
          <p:cNvSpPr/>
          <p:nvPr/>
        </p:nvSpPr>
        <p:spPr>
          <a:xfrm>
            <a:off x="301752" y="2395728"/>
            <a:ext cx="38404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 2-D Array Storage</a:t>
            </a:r>
            <a:endParaRPr lang="en-US" sz="1100" dirty="0"/>
          </a:p>
        </p:txBody>
      </p:sp>
      <p:sp>
        <p:nvSpPr>
          <p:cNvPr id="35" name="Text 33"/>
          <p:cNvSpPr/>
          <p:nvPr/>
        </p:nvSpPr>
        <p:spPr>
          <a:xfrm>
            <a:off x="301752" y="2697480"/>
            <a:ext cx="3840480" cy="640080"/>
          </a:xfrm>
          <a:prstGeom prst="rect">
            <a:avLst/>
          </a:prstGeom>
          <a:noFill/>
          <a:ln/>
        </p:spPr>
        <p:txBody>
          <a:bodyPr wrap="square" rtlCol="0" anchor="ctr"/>
          <a:lstStyle/>
          <a:p>
            <a:pPr marL="0" indent="0">
              <a:buNone/>
            </a:pPr>
            <a:r>
              <a:rPr lang="en-US" sz="900" dirty="0">
                <a:solidFill>
                  <a:srgbClr val="B0C4D8"/>
                </a:solidFill>
                <a:latin typeface="Calibri" pitchFamily="34" charset="0"/>
                <a:ea typeface="Calibri" pitchFamily="34" charset="-122"/>
                <a:cs typeface="Calibri" pitchFamily="34" charset="-120"/>
              </a:rPr>
              <a:t>k_src formula maps read-order indices directly to write-order positions. Source bit e[k_src] is copied to f[k_dst] without materialising a T×T matrix, saving both memory and cycles.</a:t>
            </a:r>
            <a:endParaRPr lang="en-US" sz="900" dirty="0"/>
          </a:p>
        </p:txBody>
      </p:sp>
      <p:sp>
        <p:nvSpPr>
          <p:cNvPr id="36" name="Shape 34"/>
          <p:cNvSpPr/>
          <p:nvPr/>
        </p:nvSpPr>
        <p:spPr>
          <a:xfrm>
            <a:off x="164592" y="3502152"/>
            <a:ext cx="4023360" cy="1051560"/>
          </a:xfrm>
          <a:prstGeom prst="rect">
            <a:avLst/>
          </a:prstGeom>
          <a:solidFill>
            <a:srgbClr val="0D2240"/>
          </a:solidFill>
          <a:ln w="12700">
            <a:solidFill>
              <a:srgbClr val="1A4070"/>
            </a:solidFill>
            <a:prstDash val="solid"/>
          </a:ln>
        </p:spPr>
      </p:sp>
      <p:sp>
        <p:nvSpPr>
          <p:cNvPr id="37" name="Shape 35"/>
          <p:cNvSpPr/>
          <p:nvPr/>
        </p:nvSpPr>
        <p:spPr>
          <a:xfrm>
            <a:off x="164592" y="3502152"/>
            <a:ext cx="54864" cy="1051560"/>
          </a:xfrm>
          <a:prstGeom prst="rect">
            <a:avLst/>
          </a:prstGeom>
          <a:solidFill>
            <a:srgbClr val="00C8E0"/>
          </a:solidFill>
          <a:ln w="12700">
            <a:solidFill>
              <a:srgbClr val="00C8E0"/>
            </a:solidFill>
            <a:prstDash val="solid"/>
          </a:ln>
        </p:spPr>
      </p:sp>
      <p:sp>
        <p:nvSpPr>
          <p:cNvPr id="38" name="Text 36"/>
          <p:cNvSpPr/>
          <p:nvPr/>
        </p:nvSpPr>
        <p:spPr>
          <a:xfrm>
            <a:off x="301752" y="3566160"/>
            <a:ext cx="38404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Flat Loop (LOOP_INTERLEAVE)</a:t>
            </a:r>
            <a:endParaRPr lang="en-US" sz="1100" dirty="0"/>
          </a:p>
        </p:txBody>
      </p:sp>
      <p:sp>
        <p:nvSpPr>
          <p:cNvPr id="39" name="Text 37"/>
          <p:cNvSpPr/>
          <p:nvPr/>
        </p:nvSpPr>
        <p:spPr>
          <a:xfrm>
            <a:off x="301752" y="3867912"/>
            <a:ext cx="3840480" cy="640080"/>
          </a:xfrm>
          <a:prstGeom prst="rect">
            <a:avLst/>
          </a:prstGeom>
          <a:noFill/>
          <a:ln/>
        </p:spPr>
        <p:txBody>
          <a:bodyPr wrap="square" rtlCol="0" anchor="ctr"/>
          <a:lstStyle/>
          <a:p>
            <a:pPr marL="0" indent="0">
              <a:buNone/>
            </a:pPr>
            <a:r>
              <a:rPr lang="en-US" sz="900" dirty="0">
                <a:solidFill>
                  <a:srgbClr val="B0C4D8"/>
                </a:solidFill>
                <a:latin typeface="Calibri" pitchFamily="34" charset="0"/>
                <a:ea typeface="Calibri" pitchFamily="34" charset="-122"/>
                <a:cs typeface="Calibri" pitchFamily="34" charset="-120"/>
              </a:rPr>
              <a:t>A single pipelined loop of T×(T+1)/2 iterations (max 528) replaces nested loops, letting HLS achieve II=1. An odometer register advances (flat_j, flat_i) through the triangle in read order.</a:t>
            </a:r>
            <a:endParaRPr lang="en-US" sz="900" dirty="0"/>
          </a:p>
        </p:txBody>
      </p:sp>
      <p:sp>
        <p:nvSpPr>
          <p:cNvPr id="40" name="Shape 38"/>
          <p:cNvSpPr/>
          <p:nvPr/>
        </p:nvSpPr>
        <p:spPr>
          <a:xfrm>
            <a:off x="4956048" y="2331720"/>
            <a:ext cx="4023360" cy="1051560"/>
          </a:xfrm>
          <a:prstGeom prst="rect">
            <a:avLst/>
          </a:prstGeom>
          <a:solidFill>
            <a:srgbClr val="0D2240"/>
          </a:solidFill>
          <a:ln w="12700">
            <a:solidFill>
              <a:srgbClr val="1A4070"/>
            </a:solidFill>
            <a:prstDash val="solid"/>
          </a:ln>
        </p:spPr>
      </p:sp>
      <p:sp>
        <p:nvSpPr>
          <p:cNvPr id="41" name="Shape 39"/>
          <p:cNvSpPr/>
          <p:nvPr/>
        </p:nvSpPr>
        <p:spPr>
          <a:xfrm>
            <a:off x="4956048" y="2331720"/>
            <a:ext cx="54864" cy="1051560"/>
          </a:xfrm>
          <a:prstGeom prst="rect">
            <a:avLst/>
          </a:prstGeom>
          <a:solidFill>
            <a:srgbClr val="1A73E8"/>
          </a:solidFill>
          <a:ln w="12700">
            <a:solidFill>
              <a:srgbClr val="1A73E8"/>
            </a:solidFill>
            <a:prstDash val="solid"/>
          </a:ln>
        </p:spPr>
      </p:sp>
      <p:sp>
        <p:nvSpPr>
          <p:cNvPr id="42" name="Text 40"/>
          <p:cNvSpPr/>
          <p:nvPr/>
        </p:nvSpPr>
        <p:spPr>
          <a:xfrm>
            <a:off x="5093208" y="2395728"/>
            <a:ext cx="38404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Narrow ap_uint Types</a:t>
            </a:r>
            <a:endParaRPr lang="en-US" sz="1100" dirty="0"/>
          </a:p>
        </p:txBody>
      </p:sp>
      <p:sp>
        <p:nvSpPr>
          <p:cNvPr id="43" name="Text 41"/>
          <p:cNvSpPr/>
          <p:nvPr/>
        </p:nvSpPr>
        <p:spPr>
          <a:xfrm>
            <a:off x="5093208" y="2697480"/>
            <a:ext cx="3840480" cy="640080"/>
          </a:xfrm>
          <a:prstGeom prst="rect">
            <a:avLst/>
          </a:prstGeom>
          <a:noFill/>
          <a:ln/>
        </p:spPr>
        <p:txBody>
          <a:bodyPr wrap="square" rtlCol="0" anchor="ctr"/>
          <a:lstStyle/>
          <a:p>
            <a:pPr marL="0" indent="0">
              <a:buNone/>
            </a:pPr>
            <a:r>
              <a:rPr lang="en-US" sz="900" dirty="0">
                <a:solidFill>
                  <a:srgbClr val="B0C4D8"/>
                </a:solidFill>
                <a:latin typeface="Calibri" pitchFamily="34" charset="0"/>
                <a:ea typeface="Calibri" pitchFamily="34" charset="-122"/>
                <a:cs typeface="Calibri" pitchFamily="34" charset="-120"/>
              </a:rPr>
              <a:t>flat_i, flat_j, T → ap_uint&lt;6&gt;; k_src, k_dst → ap_uint&lt;10&gt;. This turns all multiplications into 6×6-bit LUT operations, eliminating DSP48 usage and shrinking adder widths by ~60%.</a:t>
            </a:r>
            <a:endParaRPr lang="en-US" sz="900" dirty="0"/>
          </a:p>
        </p:txBody>
      </p:sp>
      <p:sp>
        <p:nvSpPr>
          <p:cNvPr id="44" name="Shape 42"/>
          <p:cNvSpPr/>
          <p:nvPr/>
        </p:nvSpPr>
        <p:spPr>
          <a:xfrm>
            <a:off x="4956048" y="3502152"/>
            <a:ext cx="4023360" cy="1051560"/>
          </a:xfrm>
          <a:prstGeom prst="rect">
            <a:avLst/>
          </a:prstGeom>
          <a:solidFill>
            <a:srgbClr val="0D2240"/>
          </a:solidFill>
          <a:ln w="12700">
            <a:solidFill>
              <a:srgbClr val="1A4070"/>
            </a:solidFill>
            <a:prstDash val="solid"/>
          </a:ln>
        </p:spPr>
      </p:sp>
      <p:sp>
        <p:nvSpPr>
          <p:cNvPr id="45" name="Shape 43"/>
          <p:cNvSpPr/>
          <p:nvPr/>
        </p:nvSpPr>
        <p:spPr>
          <a:xfrm>
            <a:off x="4956048" y="3502152"/>
            <a:ext cx="54864" cy="1051560"/>
          </a:xfrm>
          <a:prstGeom prst="rect">
            <a:avLst/>
          </a:prstGeom>
          <a:solidFill>
            <a:srgbClr val="1A73E8"/>
          </a:solidFill>
          <a:ln w="12700">
            <a:solidFill>
              <a:srgbClr val="1A73E8"/>
            </a:solidFill>
            <a:prstDash val="solid"/>
          </a:ln>
        </p:spPr>
      </p:sp>
      <p:sp>
        <p:nvSpPr>
          <p:cNvPr id="46" name="Text 44"/>
          <p:cNvSpPr/>
          <p:nvPr/>
        </p:nvSpPr>
        <p:spPr>
          <a:xfrm>
            <a:off x="5093208" y="3566160"/>
            <a:ext cx="3840480" cy="2926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Register-Based Buffers</a:t>
            </a:r>
            <a:endParaRPr lang="en-US" sz="1100" dirty="0"/>
          </a:p>
        </p:txBody>
      </p:sp>
      <p:sp>
        <p:nvSpPr>
          <p:cNvPr id="47" name="Text 45"/>
          <p:cNvSpPr/>
          <p:nvPr/>
        </p:nvSpPr>
        <p:spPr>
          <a:xfrm>
            <a:off x="5093208" y="3867912"/>
            <a:ext cx="3840480" cy="640080"/>
          </a:xfrm>
          <a:prstGeom prst="rect">
            <a:avLst/>
          </a:prstGeom>
          <a:noFill/>
          <a:ln/>
        </p:spPr>
        <p:txBody>
          <a:bodyPr wrap="square" rtlCol="0" anchor="ctr"/>
          <a:lstStyle/>
          <a:p>
            <a:pPr marL="0" indent="0">
              <a:buNone/>
            </a:pPr>
            <a:r>
              <a:rPr lang="en-US" sz="900" dirty="0">
                <a:solidFill>
                  <a:srgbClr val="B0C4D8"/>
                </a:solidFill>
                <a:latin typeface="Calibri" pitchFamily="34" charset="0"/>
                <a:ea typeface="Calibri" pitchFamily="34" charset="-122"/>
                <a:cs typeface="Calibri" pitchFamily="34" charset="-120"/>
              </a:rPr>
              <a:t>e_buf / f_buf are 4×128-bit = 512-bit arrays, fully partitioned. They map to flip-flops, not BRAM, so parallel read/write is synthesis-trivial and latency is zero.</a:t>
            </a:r>
            <a:endParaRPr lang="en-US" sz="900" dirty="0"/>
          </a:p>
        </p:txBody>
      </p:sp>
      <p:sp>
        <p:nvSpPr>
          <p:cNvPr id="48" name="Shape 46"/>
          <p:cNvSpPr/>
          <p:nvPr/>
        </p:nvSpPr>
        <p:spPr>
          <a:xfrm>
            <a:off x="0" y="5097780"/>
            <a:ext cx="9144000" cy="45720"/>
          </a:xfrm>
          <a:prstGeom prst="rect">
            <a:avLst/>
          </a:prstGeom>
          <a:solidFill>
            <a:srgbClr val="1A73E8"/>
          </a:solidFill>
          <a:ln w="12700">
            <a:solidFill>
              <a:srgbClr val="1A73E8"/>
            </a:solidFill>
            <a:prstDash val="solid"/>
          </a:ln>
        </p:spPr>
      </p:sp>
      <p:sp>
        <p:nvSpPr>
          <p:cNvPr id="49" name="Text 47"/>
          <p:cNvSpPr/>
          <p:nvPr/>
        </p:nvSpPr>
        <p:spPr>
          <a:xfrm>
            <a:off x="7772400" y="4846320"/>
            <a:ext cx="1188720" cy="228600"/>
          </a:xfrm>
          <a:prstGeom prst="rect">
            <a:avLst/>
          </a:prstGeom>
          <a:noFill/>
          <a:ln/>
        </p:spPr>
        <p:txBody>
          <a:bodyPr wrap="square" rtlCol="0" anchor="ctr"/>
          <a:lstStyle/>
          <a:p>
            <a:pPr marL="0" indent="0" algn="r">
              <a:buNone/>
            </a:pPr>
            <a:r>
              <a:rPr lang="en-US" sz="900" dirty="0">
                <a:solidFill>
                  <a:srgbClr val="B0C4D8"/>
                </a:solidFill>
                <a:latin typeface="Calibri" pitchFamily="34" charset="0"/>
                <a:ea typeface="Calibri" pitchFamily="34" charset="-122"/>
                <a:cs typeface="Calibri" pitchFamily="34" charset="-120"/>
              </a:rPr>
              <a:t>Slide 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73E8"/>
          </a:solidFill>
          <a:ln w="12700">
            <a:solidFill>
              <a:srgbClr val="1A73E8"/>
            </a:solidFill>
            <a:prstDash val="solid"/>
          </a:ln>
        </p:spPr>
      </p:sp>
      <p:sp>
        <p:nvSpPr>
          <p:cNvPr id="3" name="Shape 1"/>
          <p:cNvSpPr/>
          <p:nvPr/>
        </p:nvSpPr>
        <p:spPr>
          <a:xfrm>
            <a:off x="0" y="64008"/>
            <a:ext cx="9144000" cy="731520"/>
          </a:xfrm>
          <a:prstGeom prst="rect">
            <a:avLst/>
          </a:prstGeom>
          <a:solidFill>
            <a:srgbClr val="0A1628"/>
          </a:solidFill>
          <a:ln w="12700">
            <a:solidFill>
              <a:srgbClr val="0A1628"/>
            </a:solidFill>
            <a:prstDash val="solid"/>
          </a:ln>
        </p:spPr>
      </p:sp>
      <p:sp>
        <p:nvSpPr>
          <p:cNvPr id="4" name="Text 2"/>
          <p:cNvSpPr/>
          <p:nvPr/>
        </p:nvSpPr>
        <p:spPr>
          <a:xfrm>
            <a:off x="365760" y="64008"/>
            <a:ext cx="5486400" cy="7315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C/C++ Simulation (CSIM)</a:t>
            </a:r>
            <a:endParaRPr lang="en-US" sz="2400" dirty="0"/>
          </a:p>
        </p:txBody>
      </p:sp>
      <p:sp>
        <p:nvSpPr>
          <p:cNvPr id="5" name="Shape 3"/>
          <p:cNvSpPr/>
          <p:nvPr/>
        </p:nvSpPr>
        <p:spPr>
          <a:xfrm>
            <a:off x="6583680" y="201168"/>
            <a:ext cx="2286000" cy="411480"/>
          </a:xfrm>
          <a:prstGeom prst="rect">
            <a:avLst/>
          </a:prstGeom>
          <a:solidFill>
            <a:srgbClr val="22C55E"/>
          </a:solidFill>
          <a:ln w="12700">
            <a:solidFill>
              <a:srgbClr val="22C55E"/>
            </a:solidFill>
            <a:prstDash val="solid"/>
          </a:ln>
        </p:spPr>
      </p:sp>
      <p:sp>
        <p:nvSpPr>
          <p:cNvPr id="6" name="Text 4"/>
          <p:cNvSpPr/>
          <p:nvPr/>
        </p:nvSpPr>
        <p:spPr>
          <a:xfrm>
            <a:off x="6583680" y="201168"/>
            <a:ext cx="22860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16 / 16 CASES PASSED</a:t>
            </a:r>
            <a:endParaRPr lang="en-US" sz="1300" dirty="0"/>
          </a:p>
        </p:txBody>
      </p:sp>
      <p:sp>
        <p:nvSpPr>
          <p:cNvPr id="14" name="Text 12"/>
          <p:cNvSpPr/>
          <p:nvPr/>
        </p:nvSpPr>
        <p:spPr>
          <a:xfrm>
            <a:off x="457200" y="1517904"/>
            <a:ext cx="8229600" cy="201168"/>
          </a:xfrm>
          <a:prstGeom prst="rect">
            <a:avLst/>
          </a:prstGeom>
          <a:noFill/>
          <a:ln/>
        </p:spPr>
        <p:txBody>
          <a:bodyPr wrap="square" rtlCol="0" anchor="ctr"/>
          <a:lstStyle/>
          <a:p>
            <a:pPr marL="0" indent="0">
              <a:buNone/>
            </a:pPr>
            <a:endParaRPr lang="en-US" sz="950" dirty="0"/>
          </a:p>
        </p:txBody>
      </p:sp>
      <p:sp>
        <p:nvSpPr>
          <p:cNvPr id="29" name="Shape 27"/>
          <p:cNvSpPr/>
          <p:nvPr/>
        </p:nvSpPr>
        <p:spPr>
          <a:xfrm>
            <a:off x="0" y="5097780"/>
            <a:ext cx="9144000" cy="45720"/>
          </a:xfrm>
          <a:prstGeom prst="rect">
            <a:avLst/>
          </a:prstGeom>
          <a:solidFill>
            <a:srgbClr val="1A73E8"/>
          </a:solidFill>
          <a:ln w="12700">
            <a:solidFill>
              <a:srgbClr val="1A73E8"/>
            </a:solidFill>
            <a:prstDash val="solid"/>
          </a:ln>
        </p:spPr>
      </p:sp>
      <p:sp>
        <p:nvSpPr>
          <p:cNvPr id="30" name="Text 28"/>
          <p:cNvSpPr/>
          <p:nvPr/>
        </p:nvSpPr>
        <p:spPr>
          <a:xfrm>
            <a:off x="7772400" y="4846320"/>
            <a:ext cx="11887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Slide 4 / 7</a:t>
            </a:r>
            <a:endParaRPr lang="en-US" sz="900" dirty="0"/>
          </a:p>
        </p:txBody>
      </p:sp>
      <p:pic>
        <p:nvPicPr>
          <p:cNvPr id="32" name="Picture 31">
            <a:extLst>
              <a:ext uri="{FF2B5EF4-FFF2-40B4-BE49-F238E27FC236}">
                <a16:creationId xmlns:a16="http://schemas.microsoft.com/office/drawing/2014/main" id="{9E3BEC04-65EB-D5FC-68DA-C3E1E51B0E9E}"/>
              </a:ext>
            </a:extLst>
          </p:cNvPr>
          <p:cNvPicPr>
            <a:picLocks noChangeAspect="1"/>
          </p:cNvPicPr>
          <p:nvPr/>
        </p:nvPicPr>
        <p:blipFill>
          <a:blip r:embed="rId3"/>
          <a:stretch>
            <a:fillRect/>
          </a:stretch>
        </p:blipFill>
        <p:spPr>
          <a:xfrm>
            <a:off x="2120113" y="795528"/>
            <a:ext cx="4730372" cy="42700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8E0"/>
          </a:solidFill>
          <a:ln w="12700">
            <a:solidFill>
              <a:srgbClr val="00C8E0"/>
            </a:solidFill>
            <a:prstDash val="solid"/>
          </a:ln>
        </p:spPr>
      </p:sp>
      <p:sp>
        <p:nvSpPr>
          <p:cNvPr id="3" name="Text 1"/>
          <p:cNvSpPr/>
          <p:nvPr/>
        </p:nvSpPr>
        <p:spPr>
          <a:xfrm>
            <a:off x="458818" y="470359"/>
            <a:ext cx="2620201"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Synthesis Results</a:t>
            </a:r>
            <a:endParaRPr lang="en-US" sz="2600" dirty="0"/>
          </a:p>
        </p:txBody>
      </p:sp>
      <p:sp>
        <p:nvSpPr>
          <p:cNvPr id="31" name="Shape 28"/>
          <p:cNvSpPr/>
          <p:nvPr/>
        </p:nvSpPr>
        <p:spPr>
          <a:xfrm>
            <a:off x="0" y="5097780"/>
            <a:ext cx="9144000" cy="45720"/>
          </a:xfrm>
          <a:prstGeom prst="rect">
            <a:avLst/>
          </a:prstGeom>
          <a:solidFill>
            <a:srgbClr val="00C8E0"/>
          </a:solidFill>
          <a:ln w="12700">
            <a:solidFill>
              <a:srgbClr val="00C8E0"/>
            </a:solidFill>
            <a:prstDash val="solid"/>
          </a:ln>
        </p:spPr>
      </p:sp>
      <p:sp>
        <p:nvSpPr>
          <p:cNvPr id="32" name="Text 29"/>
          <p:cNvSpPr/>
          <p:nvPr/>
        </p:nvSpPr>
        <p:spPr>
          <a:xfrm>
            <a:off x="7772400" y="4846320"/>
            <a:ext cx="1188720" cy="228600"/>
          </a:xfrm>
          <a:prstGeom prst="rect">
            <a:avLst/>
          </a:prstGeom>
          <a:noFill/>
          <a:ln/>
        </p:spPr>
        <p:txBody>
          <a:bodyPr wrap="square" rtlCol="0" anchor="ctr"/>
          <a:lstStyle/>
          <a:p>
            <a:pPr marL="0" indent="0" algn="r">
              <a:buNone/>
            </a:pPr>
            <a:r>
              <a:rPr lang="en-US" sz="900" dirty="0">
                <a:solidFill>
                  <a:srgbClr val="B0C4D8"/>
                </a:solidFill>
                <a:latin typeface="Calibri" pitchFamily="34" charset="0"/>
                <a:ea typeface="Calibri" pitchFamily="34" charset="-122"/>
                <a:cs typeface="Calibri" pitchFamily="34" charset="-120"/>
              </a:rPr>
              <a:t>Slide 5 / 7</a:t>
            </a:r>
            <a:endParaRPr lang="en-US" sz="900" dirty="0"/>
          </a:p>
        </p:txBody>
      </p:sp>
      <p:pic>
        <p:nvPicPr>
          <p:cNvPr id="34" name="Picture 33" descr="The image is a performance estimation report for a synthesized circuit, detailing various metrics such as clock, latency, and utilization for components like BRAM, DSP, and FIFO.&#10;&#10;AI-generated content may be incorrect.">
            <a:extLst>
              <a:ext uri="{FF2B5EF4-FFF2-40B4-BE49-F238E27FC236}">
                <a16:creationId xmlns:a16="http://schemas.microsoft.com/office/drawing/2014/main" id="{84258973-AF66-04F0-672F-950B6C9DF915}"/>
              </a:ext>
            </a:extLst>
          </p:cNvPr>
          <p:cNvPicPr>
            <a:picLocks noChangeAspect="1"/>
          </p:cNvPicPr>
          <p:nvPr/>
        </p:nvPicPr>
        <p:blipFill>
          <a:blip r:embed="rId3"/>
          <a:stretch>
            <a:fillRect/>
          </a:stretch>
        </p:blipFill>
        <p:spPr>
          <a:xfrm>
            <a:off x="4818807" y="176856"/>
            <a:ext cx="3378731" cy="4847040"/>
          </a:xfrm>
          <a:prstGeom prst="rect">
            <a:avLst/>
          </a:prstGeom>
        </p:spPr>
      </p:pic>
      <p:sp>
        <p:nvSpPr>
          <p:cNvPr id="36" name="Text 1">
            <a:extLst>
              <a:ext uri="{FF2B5EF4-FFF2-40B4-BE49-F238E27FC236}">
                <a16:creationId xmlns:a16="http://schemas.microsoft.com/office/drawing/2014/main" id="{A377F6EE-49B8-7AB6-26DF-C9362A80B16F}"/>
              </a:ext>
            </a:extLst>
          </p:cNvPr>
          <p:cNvSpPr/>
          <p:nvPr/>
        </p:nvSpPr>
        <p:spPr>
          <a:xfrm>
            <a:off x="458818" y="1182717"/>
            <a:ext cx="4041703"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Latency: 6.809 us &lt; 11 us  </a:t>
            </a:r>
            <a:endParaRPr lang="en-US" sz="2600" dirty="0"/>
          </a:p>
        </p:txBody>
      </p:sp>
      <p:sp>
        <p:nvSpPr>
          <p:cNvPr id="37" name="Text 1">
            <a:extLst>
              <a:ext uri="{FF2B5EF4-FFF2-40B4-BE49-F238E27FC236}">
                <a16:creationId xmlns:a16="http://schemas.microsoft.com/office/drawing/2014/main" id="{47F5E3D5-992B-8905-F191-0B0AD7EA15CD}"/>
              </a:ext>
            </a:extLst>
          </p:cNvPr>
          <p:cNvSpPr/>
          <p:nvPr/>
        </p:nvSpPr>
        <p:spPr>
          <a:xfrm>
            <a:off x="458816" y="1891703"/>
            <a:ext cx="4194103" cy="187214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Resource Utilization:</a:t>
            </a:r>
          </a:p>
          <a:p>
            <a:pPr marL="0" indent="0">
              <a:buNone/>
            </a:pPr>
            <a:r>
              <a:rPr lang="en-US" sz="2600" b="1" dirty="0">
                <a:solidFill>
                  <a:srgbClr val="FFFFFF"/>
                </a:solidFill>
                <a:latin typeface="Calibri" pitchFamily="34" charset="0"/>
                <a:ea typeface="Calibri" pitchFamily="34" charset="-122"/>
                <a:cs typeface="Calibri" pitchFamily="34" charset="-120"/>
              </a:rPr>
              <a:t>Total/Available – 3.86% &lt; 8%</a:t>
            </a:r>
          </a:p>
          <a:p>
            <a:pPr marL="0" indent="0">
              <a:buNone/>
            </a:pPr>
            <a:endParaRPr lang="en-US" sz="2600" b="1" dirty="0">
              <a:solidFill>
                <a:srgbClr val="FFFFFF"/>
              </a:solidFill>
              <a:latin typeface="Calibri" pitchFamily="34" charset="0"/>
              <a:ea typeface="Calibri" pitchFamily="34" charset="-122"/>
              <a:cs typeface="Calibri" pitchFamily="34" charset="-120"/>
            </a:endParaRPr>
          </a:p>
          <a:p>
            <a:pPr marL="0" indent="0">
              <a:buNone/>
            </a:pPr>
            <a:endParaRPr lang="en-US" sz="2600" b="1" dirty="0">
              <a:solidFill>
                <a:srgbClr val="FFFFFF"/>
              </a:solidFill>
              <a:latin typeface="Calibri" pitchFamily="34" charset="0"/>
              <a:ea typeface="Calibri" pitchFamily="34" charset="-122"/>
              <a:cs typeface="Calibri" pitchFamily="34" charset="-120"/>
            </a:endParaRPr>
          </a:p>
          <a:p>
            <a:pPr marL="0" indent="0">
              <a:buNone/>
            </a:pPr>
            <a:r>
              <a:rPr lang="en-US" sz="2600" b="1" dirty="0">
                <a:solidFill>
                  <a:srgbClr val="FFFFFF"/>
                </a:solidFill>
                <a:latin typeface="Calibri" pitchFamily="34" charset="0"/>
                <a:ea typeface="Calibri" pitchFamily="34" charset="-122"/>
                <a:cs typeface="Calibri" pitchFamily="34" charset="-120"/>
              </a:rPr>
              <a:t>  </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73E8"/>
          </a:solidFill>
          <a:ln w="12700">
            <a:solidFill>
              <a:srgbClr val="1A73E8"/>
            </a:solidFill>
            <a:prstDash val="solid"/>
          </a:ln>
        </p:spPr>
      </p:sp>
      <p:sp>
        <p:nvSpPr>
          <p:cNvPr id="3" name="Shape 1"/>
          <p:cNvSpPr/>
          <p:nvPr/>
        </p:nvSpPr>
        <p:spPr>
          <a:xfrm>
            <a:off x="0" y="64008"/>
            <a:ext cx="9144000" cy="713232"/>
          </a:xfrm>
          <a:prstGeom prst="rect">
            <a:avLst/>
          </a:prstGeom>
          <a:solidFill>
            <a:srgbClr val="0A1628"/>
          </a:solidFill>
          <a:ln w="12700">
            <a:solidFill>
              <a:srgbClr val="0A1628"/>
            </a:solidFill>
            <a:prstDash val="solid"/>
          </a:ln>
        </p:spPr>
      </p:sp>
      <p:sp>
        <p:nvSpPr>
          <p:cNvPr id="4" name="Text 2"/>
          <p:cNvSpPr/>
          <p:nvPr/>
        </p:nvSpPr>
        <p:spPr>
          <a:xfrm>
            <a:off x="365760" y="64008"/>
            <a:ext cx="5486400" cy="713232"/>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RTL / Co-Simulation</a:t>
            </a:r>
            <a:endParaRPr lang="en-US" sz="2400" dirty="0"/>
          </a:p>
        </p:txBody>
      </p:sp>
      <p:sp>
        <p:nvSpPr>
          <p:cNvPr id="5" name="Shape 3"/>
          <p:cNvSpPr/>
          <p:nvPr/>
        </p:nvSpPr>
        <p:spPr>
          <a:xfrm>
            <a:off x="6583680" y="201168"/>
            <a:ext cx="2286000" cy="411480"/>
          </a:xfrm>
          <a:prstGeom prst="rect">
            <a:avLst/>
          </a:prstGeom>
          <a:solidFill>
            <a:srgbClr val="22C55E"/>
          </a:solidFill>
          <a:ln w="12700">
            <a:solidFill>
              <a:srgbClr val="22C55E"/>
            </a:solidFill>
            <a:prstDash val="solid"/>
          </a:ln>
        </p:spPr>
      </p:sp>
      <p:sp>
        <p:nvSpPr>
          <p:cNvPr id="6" name="Text 4"/>
          <p:cNvSpPr/>
          <p:nvPr/>
        </p:nvSpPr>
        <p:spPr>
          <a:xfrm>
            <a:off x="6583680" y="201168"/>
            <a:ext cx="22860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COSIM PASS</a:t>
            </a:r>
            <a:endParaRPr lang="en-US" sz="1300" dirty="0"/>
          </a:p>
        </p:txBody>
      </p:sp>
      <p:sp>
        <p:nvSpPr>
          <p:cNvPr id="41" name="Shape 39"/>
          <p:cNvSpPr/>
          <p:nvPr/>
        </p:nvSpPr>
        <p:spPr>
          <a:xfrm>
            <a:off x="0" y="5097780"/>
            <a:ext cx="9144000" cy="45720"/>
          </a:xfrm>
          <a:prstGeom prst="rect">
            <a:avLst/>
          </a:prstGeom>
          <a:solidFill>
            <a:srgbClr val="1A73E8"/>
          </a:solidFill>
          <a:ln w="12700">
            <a:solidFill>
              <a:srgbClr val="1A73E8"/>
            </a:solidFill>
            <a:prstDash val="solid"/>
          </a:ln>
        </p:spPr>
      </p:sp>
      <p:sp>
        <p:nvSpPr>
          <p:cNvPr id="42" name="Text 40"/>
          <p:cNvSpPr/>
          <p:nvPr/>
        </p:nvSpPr>
        <p:spPr>
          <a:xfrm>
            <a:off x="7772400" y="4846320"/>
            <a:ext cx="118872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Slide 6 / 7</a:t>
            </a:r>
            <a:endParaRPr lang="en-US" sz="900" dirty="0"/>
          </a:p>
        </p:txBody>
      </p:sp>
      <p:pic>
        <p:nvPicPr>
          <p:cNvPr id="44" name="Picture 43" descr="The image displays a Cosimulation Report for 'channel_interleaver', detailing latency statistics in various configurations and confirming successful pass statuses for VHDL and Verilog.&#10;&#10;AI-generated content may be incorrect.">
            <a:extLst>
              <a:ext uri="{FF2B5EF4-FFF2-40B4-BE49-F238E27FC236}">
                <a16:creationId xmlns:a16="http://schemas.microsoft.com/office/drawing/2014/main" id="{0AD31990-1BA5-1BDB-5608-1CCC8962E1BB}"/>
              </a:ext>
            </a:extLst>
          </p:cNvPr>
          <p:cNvPicPr>
            <a:picLocks noChangeAspect="1"/>
          </p:cNvPicPr>
          <p:nvPr/>
        </p:nvPicPr>
        <p:blipFill>
          <a:blip r:embed="rId3"/>
          <a:stretch>
            <a:fillRect/>
          </a:stretch>
        </p:blipFill>
        <p:spPr>
          <a:xfrm>
            <a:off x="365760" y="1028617"/>
            <a:ext cx="5689647" cy="30862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C8E0"/>
          </a:solidFill>
          <a:ln w="12700">
            <a:solidFill>
              <a:srgbClr val="00C8E0"/>
            </a:solidFill>
            <a:prstDash val="solid"/>
          </a:ln>
        </p:spPr>
      </p:sp>
      <p:sp>
        <p:nvSpPr>
          <p:cNvPr id="3" name="Text 1"/>
          <p:cNvSpPr/>
          <p:nvPr/>
        </p:nvSpPr>
        <p:spPr>
          <a:xfrm>
            <a:off x="3359813" y="190246"/>
            <a:ext cx="6400800" cy="47548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RTL Waveform</a:t>
            </a:r>
            <a:endParaRPr lang="en-US" sz="2600" dirty="0"/>
          </a:p>
        </p:txBody>
      </p:sp>
      <p:sp>
        <p:nvSpPr>
          <p:cNvPr id="141" name="Shape 139"/>
          <p:cNvSpPr/>
          <p:nvPr/>
        </p:nvSpPr>
        <p:spPr>
          <a:xfrm>
            <a:off x="0" y="5097780"/>
            <a:ext cx="9144000" cy="45720"/>
          </a:xfrm>
          <a:prstGeom prst="rect">
            <a:avLst/>
          </a:prstGeom>
          <a:solidFill>
            <a:srgbClr val="00C8E0"/>
          </a:solidFill>
          <a:ln w="12700">
            <a:solidFill>
              <a:srgbClr val="00C8E0"/>
            </a:solidFill>
            <a:prstDash val="solid"/>
          </a:ln>
        </p:spPr>
      </p:sp>
      <p:sp>
        <p:nvSpPr>
          <p:cNvPr id="142" name="Text 140"/>
          <p:cNvSpPr/>
          <p:nvPr/>
        </p:nvSpPr>
        <p:spPr>
          <a:xfrm>
            <a:off x="7772400" y="4846320"/>
            <a:ext cx="1188720" cy="228600"/>
          </a:xfrm>
          <a:prstGeom prst="rect">
            <a:avLst/>
          </a:prstGeom>
          <a:noFill/>
          <a:ln/>
        </p:spPr>
        <p:txBody>
          <a:bodyPr wrap="square" rtlCol="0" anchor="ctr"/>
          <a:lstStyle/>
          <a:p>
            <a:pPr marL="0" indent="0" algn="r">
              <a:buNone/>
            </a:pPr>
            <a:r>
              <a:rPr lang="en-US" sz="900" dirty="0">
                <a:solidFill>
                  <a:srgbClr val="B0C4D8"/>
                </a:solidFill>
                <a:latin typeface="Calibri" pitchFamily="34" charset="0"/>
                <a:ea typeface="Calibri" pitchFamily="34" charset="-122"/>
                <a:cs typeface="Calibri" pitchFamily="34" charset="-120"/>
              </a:rPr>
              <a:t>Slide 7 / 7</a:t>
            </a:r>
            <a:endParaRPr lang="en-US" sz="900" dirty="0"/>
          </a:p>
        </p:txBody>
      </p:sp>
      <p:pic>
        <p:nvPicPr>
          <p:cNvPr id="144" name="Picture 143" descr="The image shows a complex data visualization, possibly from a software interface, with various numeric values and labels indicating different data types and outputs.&#10;&#10;AI-generated content may be incorrect.">
            <a:extLst>
              <a:ext uri="{FF2B5EF4-FFF2-40B4-BE49-F238E27FC236}">
                <a16:creationId xmlns:a16="http://schemas.microsoft.com/office/drawing/2014/main" id="{1501CE2B-3B28-AB12-BAD3-CD1EEFE242EC}"/>
              </a:ext>
            </a:extLst>
          </p:cNvPr>
          <p:cNvPicPr>
            <a:picLocks noChangeAspect="1"/>
          </p:cNvPicPr>
          <p:nvPr/>
        </p:nvPicPr>
        <p:blipFill>
          <a:blip r:embed="rId3"/>
          <a:stretch>
            <a:fillRect/>
          </a:stretch>
        </p:blipFill>
        <p:spPr>
          <a:xfrm>
            <a:off x="133519" y="791973"/>
            <a:ext cx="4393975" cy="2099114"/>
          </a:xfrm>
          <a:prstGeom prst="rect">
            <a:avLst/>
          </a:prstGeom>
        </p:spPr>
      </p:pic>
      <p:pic>
        <p:nvPicPr>
          <p:cNvPr id="146" name="Picture 145" descr="The image shows a graph or data visualization with multiple data points, time intervals, and labels such as 'Name', 'Value', 'Design Top Signals', 'Test Bench Signals', and 'Internal Signals'. The data appears to be related to testing or monitoring electronic components or systems.&#10;&#10;AI-generated content may be incorrect.">
            <a:extLst>
              <a:ext uri="{FF2B5EF4-FFF2-40B4-BE49-F238E27FC236}">
                <a16:creationId xmlns:a16="http://schemas.microsoft.com/office/drawing/2014/main" id="{5A4E7DC2-215D-B0C4-A5DD-D93C1BFC59C7}"/>
              </a:ext>
            </a:extLst>
          </p:cNvPr>
          <p:cNvPicPr>
            <a:picLocks noChangeAspect="1"/>
          </p:cNvPicPr>
          <p:nvPr/>
        </p:nvPicPr>
        <p:blipFill>
          <a:blip r:embed="rId4"/>
          <a:stretch>
            <a:fillRect/>
          </a:stretch>
        </p:blipFill>
        <p:spPr>
          <a:xfrm>
            <a:off x="4572000" y="2612785"/>
            <a:ext cx="4487033" cy="21671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522</Words>
  <Application>Microsoft Office PowerPoint</Application>
  <PresentationFormat>On-screen Show (16:9)</PresentationFormat>
  <Paragraphs>79</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5G-NR Channel Interleaver — Mini Project 2</dc:title>
  <dc:subject>PptxGenJS Presentation</dc:subject>
  <dc:creator>PptxGenJS</dc:creator>
  <cp:lastModifiedBy>TARAL SANKA</cp:lastModifiedBy>
  <cp:revision>3</cp:revision>
  <dcterms:created xsi:type="dcterms:W3CDTF">2026-04-08T14:20:54Z</dcterms:created>
  <dcterms:modified xsi:type="dcterms:W3CDTF">2026-04-10T15:52:12Z</dcterms:modified>
</cp:coreProperties>
</file>