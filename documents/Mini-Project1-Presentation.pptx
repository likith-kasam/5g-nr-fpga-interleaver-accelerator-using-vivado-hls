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187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04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167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043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80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56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898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30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06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313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638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856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560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564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160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5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072E6B6-6AD2-43C4-8FD9-95E5C950B504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47CF0A7-3D02-47C8-B536-97519639AB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0251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hyperlink" Target="file:///C:\Users\KASAM%20LIKITH\Downloads\minipr1_files\minipr_files\reports\NR_Interleaver_csynth.rpt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537A0-A901-4559-24F2-59C5AEFC5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066800"/>
            <a:ext cx="8676222" cy="2209799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5G-nr interleaving algorithm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3E0EF-827B-ED53-A8E9-4325700A1B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Mini project - 1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357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533E-BDB8-7FFB-185F-B58AF713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525D-06F6-24C0-2927-21D5F855F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039585"/>
            <a:ext cx="8676222" cy="664028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NR Interleaving and Why It Matters for 5G-NR PDSCH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237B21E-84F0-8D6F-4B17-A6A969840511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93915" y="2476500"/>
                <a:ext cx="11647714" cy="3205843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è"/>
                </a:pP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bit interleaving is a process where the coded bit sequence of length </a:t>
                </a:r>
                <a:r>
                  <a:rPr lang="en-I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</a:t>
                </a: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arranged into a matrix with </a:t>
                </a:r>
                <a:r>
                  <a:rPr lang="en-IN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Qm</a:t>
                </a: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rows, where </a:t>
                </a:r>
                <a:r>
                  <a:rPr lang="en-IN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Qm</a:t>
                </a:r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the modulation order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IN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42900" indent="-342900" algn="l">
                  <a:buFont typeface="Wingdings" panose="05000000000000000000" pitchFamily="2" charset="2"/>
                  <a:buChar char="è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bits are </a:t>
                </a: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written row-wise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then </a:t>
                </a: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read column-wise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which changes the transmission order of bits before modulation. This is the 3GPP bit interleaving procedure defined for PDSCH.</a:t>
                </a:r>
              </a:p>
              <a:p>
                <a:pPr marL="342900" indent="-342900" algn="l">
                  <a:buFont typeface="Wingdings" panose="05000000000000000000" pitchFamily="2" charset="2"/>
                  <a:buChar char="è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improves robustness against burst errors and localized channel impairments, enables more effective mapping onto modulation symbols, and gives better reliability after demodulation, decoding, and overall link performance.</a:t>
                </a:r>
                <a:endParaRPr lang="en-IN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237B21E-84F0-8D6F-4B17-A6A969840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93915" y="2476500"/>
                <a:ext cx="11647714" cy="3205843"/>
              </a:xfrm>
              <a:blipFill>
                <a:blip r:embed="rId2"/>
                <a:stretch>
                  <a:fillRect l="-890" t="-2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8931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EB6DA-FC71-B4DB-2312-C84300764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115B-341E-BB4E-D912-BF0D7FA85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8023"/>
            <a:ext cx="11277600" cy="451756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96 bits input and output data bus width may be a good design choice ?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3A4B6-A13F-80CA-2104-07273A9FD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143" y="1228725"/>
            <a:ext cx="11647714" cy="2313214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è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and efficient choice for NR- Interleaver because the interleaving operation depends on modulation order Qm, where it belongs to {2, 4, 6, 8}. So, 96 is divisible by all these values.</a:t>
            </a:r>
          </a:p>
          <a:p>
            <a:pPr marL="342900" indent="-342900" algn="l">
              <a:buFont typeface="Wingdings" panose="05000000000000000000" pitchFamily="2" charset="2"/>
              <a:buChar char="è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96-bits at both input and output also improves throughput because a large block of bits can be processed in one transfer instead of sending many small words.</a:t>
            </a:r>
          </a:p>
          <a:p>
            <a:pPr marL="342900" indent="-342900" algn="l">
              <a:buFont typeface="Wingdings" panose="05000000000000000000" pitchFamily="2" charset="2"/>
              <a:buChar char="è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not excessively large, so it gives a good balance between high data parallelism and reasonable hardware usage.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A5008B-7289-A77D-937F-DC7D180034C4}"/>
              </a:ext>
            </a:extLst>
          </p:cNvPr>
          <p:cNvSpPr txBox="1">
            <a:spLocks/>
          </p:cNvSpPr>
          <p:nvPr/>
        </p:nvSpPr>
        <p:spPr>
          <a:xfrm>
            <a:off x="272143" y="4278085"/>
            <a:ext cx="11647714" cy="231321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solution achieves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speed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hardware:</a:t>
            </a:r>
          </a:p>
          <a:p>
            <a:pPr lvl="1" algn="l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Processes large amounts of data quickly without overloading the chip.</a:t>
            </a:r>
          </a:p>
          <a:p>
            <a:pPr lvl="1" algn="l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Uses a pipeline approach — like an assembly line, each stage hands off to the next.</a:t>
            </a:r>
          </a:p>
          <a:p>
            <a:pPr lvl="1" algn="l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Avoids running everything at once, keeping chip resource usage low</a:t>
            </a:r>
          </a:p>
          <a:p>
            <a:pPr lvl="1" algn="l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Every operation completes within the 260µs time limit</a:t>
            </a:r>
          </a:p>
          <a:p>
            <a:pPr lvl="1" algn="l"/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Result: High throughput. Compact design. Always on time.</a:t>
            </a:r>
          </a:p>
          <a:p>
            <a:pPr algn="l"/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2427B5A-C286-3EA8-D628-D0E3ECB9112A}"/>
              </a:ext>
            </a:extLst>
          </p:cNvPr>
          <p:cNvSpPr txBox="1">
            <a:spLocks/>
          </p:cNvSpPr>
          <p:nvPr/>
        </p:nvSpPr>
        <p:spPr>
          <a:xfrm>
            <a:off x="457200" y="3541939"/>
            <a:ext cx="11277600" cy="4517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overview: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10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3E3D0-B2C7-04B8-5D8F-5C550E312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978B8A1-8CC9-0109-E610-37CF682161F4}"/>
              </a:ext>
            </a:extLst>
          </p:cNvPr>
          <p:cNvSpPr txBox="1">
            <a:spLocks/>
          </p:cNvSpPr>
          <p:nvPr/>
        </p:nvSpPr>
        <p:spPr>
          <a:xfrm>
            <a:off x="272143" y="366713"/>
            <a:ext cx="11647714" cy="17668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Interface and parameter extraction:</a:t>
            </a:r>
          </a:p>
          <a:p>
            <a:pPr lvl="1" algn="l"/>
            <a:r>
              <a:rPr lang="en-US" sz="15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</a:t>
            </a:r>
            <a:r>
              <a:rPr lang="en-US" sz="1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Axi – stream interfaces for input data, config and output.</a:t>
            </a:r>
          </a:p>
          <a:p>
            <a:pPr lvl="1" algn="l"/>
            <a:r>
              <a:rPr lang="en-US" sz="1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Reads a 128-bit config word and extracts </a:t>
            </a:r>
            <a:r>
              <a:rPr lang="en-US" sz="1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</a:t>
            </a:r>
            <a:r>
              <a:rPr lang="en-US" sz="1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(bits [14:0]) and </a:t>
            </a:r>
            <a:r>
              <a:rPr lang="en-US" sz="1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Qm</a:t>
            </a:r>
            <a:r>
              <a:rPr lang="en-US" sz="1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(bits [18:15]).</a:t>
            </a:r>
          </a:p>
          <a:p>
            <a:pPr lvl="1" algn="l"/>
            <a:r>
              <a:rPr lang="en-US" sz="1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Computes: </a:t>
            </a:r>
            <a:r>
              <a:rPr lang="en-US" sz="1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columns = G / Qm</a:t>
            </a:r>
            <a:r>
              <a:rPr lang="en-US" sz="1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US" sz="17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num_bursts = ⌈G/96⌉.</a:t>
            </a:r>
            <a:endParaRPr lang="en-US" sz="17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C3460E7-8C9D-461C-95EC-46EAED5C7D4F}"/>
              </a:ext>
            </a:extLst>
          </p:cNvPr>
          <p:cNvSpPr txBox="1">
            <a:spLocks/>
          </p:cNvSpPr>
          <p:nvPr/>
        </p:nvSpPr>
        <p:spPr>
          <a:xfrm>
            <a:off x="272143" y="2249941"/>
            <a:ext cx="11647714" cy="38569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Storage and interleaving logic:</a:t>
            </a:r>
          </a:p>
          <a:p>
            <a:pPr lvl="1" algn="l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Uses 96-bit internal buffers (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E_buff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[],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f_buf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[]).</a:t>
            </a:r>
          </a:p>
          <a:p>
            <a:pPr lvl="1" algn="l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Interleaving done through indexing based remapping:</a:t>
            </a:r>
          </a:p>
          <a:p>
            <a:pPr lvl="1" algn="l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-&gt; Row index: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dst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% Qm</a:t>
            </a: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IN" dirty="0"/>
              <a:t>Column index: </a:t>
            </a:r>
            <a:r>
              <a:rPr lang="en-IN" b="1" dirty="0"/>
              <a:t>j = </a:t>
            </a:r>
            <a:r>
              <a:rPr lang="en-IN" b="1" dirty="0" err="1"/>
              <a:t>dst</a:t>
            </a:r>
            <a:r>
              <a:rPr lang="en-IN" b="1" dirty="0"/>
              <a:t> / </a:t>
            </a:r>
            <a:r>
              <a:rPr lang="en-IN" b="1" dirty="0" err="1"/>
              <a:t>Qm</a:t>
            </a:r>
            <a:r>
              <a:rPr lang="en-IN" b="1" dirty="0"/>
              <a:t>, </a:t>
            </a:r>
            <a:r>
              <a:rPr lang="fr-FR" dirty="0"/>
              <a:t>Source location: </a:t>
            </a:r>
            <a:r>
              <a:rPr lang="fr-FR" b="1" dirty="0"/>
              <a:t>src = i × </a:t>
            </a:r>
            <a:r>
              <a:rPr lang="fr-FR" b="1" dirty="0" err="1"/>
              <a:t>columns</a:t>
            </a:r>
            <a:r>
              <a:rPr lang="fr-FR" b="1" dirty="0"/>
              <a:t> + j.</a:t>
            </a:r>
            <a:r>
              <a:rPr lang="en-IN" b="1" dirty="0"/>
              <a:t> </a:t>
            </a: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 algn="l">
              <a:buFontTx/>
              <a:buChar char="-"/>
            </a:pP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Funtionality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performs row wise write and column wise read as per 3gpp standard</a:t>
            </a:r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742950" lvl="1" indent="-285750" algn="l">
              <a:buFontTx/>
              <a:buChar char="-"/>
            </a:pPr>
            <a:r>
              <a:rPr lang="en-US" dirty="0"/>
              <a:t>Arrays not fully partitioned → stored in BRAM instead of flip-flops/LUTs.</a:t>
            </a:r>
          </a:p>
          <a:p>
            <a:pPr algn="l"/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Performance and pipeline strategy:</a:t>
            </a:r>
          </a:p>
          <a:p>
            <a:pPr algn="l"/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- </a:t>
            </a:r>
            <a:r>
              <a:rPr lang="en-US" sz="1700" dirty="0"/>
              <a:t>Inner bit-processing loop pipelined with </a:t>
            </a:r>
            <a:r>
              <a:rPr lang="en-US" sz="1700" b="1" dirty="0"/>
              <a:t>II=1</a:t>
            </a:r>
            <a:r>
              <a:rPr lang="en-US" sz="1700" dirty="0"/>
              <a:t> — no full unrolling.</a:t>
            </a:r>
          </a:p>
          <a:p>
            <a:pPr algn="l"/>
            <a:r>
              <a:rPr lang="en-US" sz="1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- </a:t>
            </a:r>
            <a:r>
              <a:rPr lang="en-US" sz="1700" dirty="0"/>
              <a:t>Bits processed one per cycle in a regular, streamed manner and Avoids large resource growth from full 	parallel expansion.</a:t>
            </a:r>
          </a:p>
          <a:p>
            <a:pPr algn="l"/>
            <a:r>
              <a:rPr lang="en-US" sz="1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	- </a:t>
            </a:r>
            <a:r>
              <a:rPr lang="en-US" sz="1800" b="1" dirty="0"/>
              <a:t>Loop tripcount directives</a:t>
            </a:r>
            <a:r>
              <a:rPr lang="en-US" sz="1800" dirty="0"/>
              <a:t> added for accurate HLS performance estimation</a:t>
            </a:r>
            <a:endParaRPr lang="en-US" sz="17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 algn="l">
              <a:buFontTx/>
              <a:buChar char="-"/>
            </a:pPr>
            <a:endParaRPr lang="en-US" sz="17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 algn="l">
              <a:buFontTx/>
              <a:buChar char="-"/>
            </a:pPr>
            <a:endParaRPr lang="en-US" sz="17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742950" lvl="1" indent="-285750" algn="l">
              <a:buFontTx/>
              <a:buChar char="-"/>
            </a:pPr>
            <a:endParaRPr lang="en-US" sz="17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072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7DF96-4367-3AFC-E9CC-D04BC7CA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AD53DDBF-E29B-ABD0-4286-88AC6210EEAE}"/>
              </a:ext>
            </a:extLst>
          </p:cNvPr>
          <p:cNvSpPr txBox="1">
            <a:spLocks/>
          </p:cNvSpPr>
          <p:nvPr/>
        </p:nvSpPr>
        <p:spPr>
          <a:xfrm>
            <a:off x="272143" y="366714"/>
            <a:ext cx="11647714" cy="1418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21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small">
                <a:solidFill>
                  <a:schemeClr val="tx1">
                    <a:tint val="75000"/>
                  </a:schemeClr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Verification:</a:t>
            </a:r>
          </a:p>
          <a:p>
            <a:pPr lvl="1" algn="l"/>
            <a:r>
              <a:rPr lang="en-US" sz="15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</a:t>
            </a:r>
            <a:r>
              <a:rPr lang="en-US" sz="1600" dirty="0"/>
              <a:t>Testbench runs 14 test cases and sends config + input vectors through streams</a:t>
            </a:r>
            <a:r>
              <a:rPr lang="en-US" sz="1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lvl="1" algn="l"/>
            <a:r>
              <a:rPr lang="en-US" sz="1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 </a:t>
            </a:r>
            <a:r>
              <a:rPr lang="en-US" sz="1600" dirty="0"/>
              <a:t>Output written to file and compared against reference using diff</a:t>
            </a:r>
            <a:r>
              <a:rPr lang="en-US" sz="17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583EF5-CD80-44EA-83EE-DA54F5BA9B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237" y="2155371"/>
            <a:ext cx="4976719" cy="3682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A0FE16-4A24-238F-53BF-E3B73C377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436" y="2375991"/>
            <a:ext cx="6261421" cy="32415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149DD6-7D77-3CE1-CA39-39A89B49321A}"/>
              </a:ext>
            </a:extLst>
          </p:cNvPr>
          <p:cNvSpPr txBox="1"/>
          <p:nvPr/>
        </p:nvSpPr>
        <p:spPr>
          <a:xfrm>
            <a:off x="6361631" y="5907249"/>
            <a:ext cx="485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Cosimulation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EFC48-1059-A277-D434-231B19BCEDB1}"/>
              </a:ext>
            </a:extLst>
          </p:cNvPr>
          <p:cNvSpPr txBox="1"/>
          <p:nvPr/>
        </p:nvSpPr>
        <p:spPr>
          <a:xfrm>
            <a:off x="445081" y="5907249"/>
            <a:ext cx="485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 simulation</a:t>
            </a:r>
            <a:endParaRPr lang="en-IN" dirty="0"/>
          </a:p>
        </p:txBody>
      </p:sp>
      <p:sp>
        <p:nvSpPr>
          <p:cNvPr id="9" name="TextBox 8">
            <a:hlinkClick r:id="rId4" action="ppaction://hlinkfile"/>
            <a:extLst>
              <a:ext uri="{FF2B5EF4-FFF2-40B4-BE49-F238E27FC236}">
                <a16:creationId xmlns:a16="http://schemas.microsoft.com/office/drawing/2014/main" id="{3D56D7BA-4832-CE61-9E46-9A4EC93FECB0}"/>
              </a:ext>
            </a:extLst>
          </p:cNvPr>
          <p:cNvSpPr txBox="1"/>
          <p:nvPr/>
        </p:nvSpPr>
        <p:spPr>
          <a:xfrm>
            <a:off x="5658436" y="1677130"/>
            <a:ext cx="5823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Synthesis report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247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7AFD35-A2C9-69D5-0FB4-35E315B5D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310" y="32037"/>
            <a:ext cx="5242370" cy="67939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29786E-94D1-A0A9-FE0A-EA125684057F}"/>
              </a:ext>
            </a:extLst>
          </p:cNvPr>
          <p:cNvSpPr txBox="1"/>
          <p:nvPr/>
        </p:nvSpPr>
        <p:spPr>
          <a:xfrm>
            <a:off x="1040320" y="2423160"/>
            <a:ext cx="3909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Synthesis Report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31799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F2F13-8ED7-C744-1B5C-22EE6AFE4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6F2108-1FF6-3934-90DB-75BA4A5A89FB}"/>
              </a:ext>
            </a:extLst>
          </p:cNvPr>
          <p:cNvSpPr txBox="1"/>
          <p:nvPr/>
        </p:nvSpPr>
        <p:spPr>
          <a:xfrm>
            <a:off x="3537856" y="399078"/>
            <a:ext cx="485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Waveform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00CE2A-8F22-4F1D-C344-B0724A12A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899038"/>
            <a:ext cx="11353800" cy="581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393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7290</TotalTime>
  <Words>530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Century Gothic</vt:lpstr>
      <vt:lpstr>Wingdings</vt:lpstr>
      <vt:lpstr>Mesh</vt:lpstr>
      <vt:lpstr>5G-nr interleaving algorithm</vt:lpstr>
      <vt:lpstr>NR Interleaving and Why It Matters for 5G-NR PDSCH</vt:lpstr>
      <vt:lpstr>Why 96 bits input and output data bus width may be a good design choice 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Likith Kasam</dc:creator>
  <cp:lastModifiedBy>Likith Kasam</cp:lastModifiedBy>
  <cp:revision>4</cp:revision>
  <dcterms:created xsi:type="dcterms:W3CDTF">2026-03-03T07:36:46Z</dcterms:created>
  <dcterms:modified xsi:type="dcterms:W3CDTF">2026-04-27T19:01:38Z</dcterms:modified>
</cp:coreProperties>
</file>